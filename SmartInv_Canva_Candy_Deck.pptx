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IBM Plex Mono Bold" charset="1" panose="020B0809050203000203"/>
      <p:regular r:id="rId19"/>
    </p:embeddedFont>
    <p:embeddedFont>
      <p:font typeface="Akzidenz-Grotesk Bold" charset="1" panose="02000803050000020004"/>
      <p:regular r:id="rId20"/>
    </p:embeddedFont>
    <p:embeddedFont>
      <p:font typeface="DM Sans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34500" y="0"/>
            <a:ext cx="8953500" cy="10287000"/>
          </a:xfrm>
          <a:custGeom>
            <a:avLst/>
            <a:gdLst/>
            <a:ahLst/>
            <a:cxnLst/>
            <a:rect r="r" b="b" t="t" l="l"/>
            <a:pathLst>
              <a:path h="10287000" w="8953500">
                <a:moveTo>
                  <a:pt x="0" y="0"/>
                </a:moveTo>
                <a:lnTo>
                  <a:pt x="8953500" y="0"/>
                </a:lnTo>
                <a:lnTo>
                  <a:pt x="8953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" r="0" b="-21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001000" y="0"/>
            <a:ext cx="3810000" cy="10287000"/>
            <a:chOff x="0" y="0"/>
            <a:chExt cx="508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8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9061A">
                    <a:alpha val="100000"/>
                  </a:srgbClr>
                </a:gs>
                <a:gs pos="35000">
                  <a:srgbClr val="09061A">
                    <a:alpha val="90000"/>
                  </a:srgbClr>
                </a:gs>
                <a:gs pos="100000">
                  <a:srgbClr val="09061A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8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5715000"/>
            <a:ext cx="2857500" cy="476250"/>
            <a:chOff x="0" y="0"/>
            <a:chExt cx="3810000" cy="63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635000"/>
            </a:xfrm>
            <a:custGeom>
              <a:avLst/>
              <a:gdLst/>
              <a:ahLst/>
              <a:cxnLst/>
              <a:rect r="r" b="b" t="t" l="l"/>
              <a:pathLst>
                <a:path h="635000" w="3810000">
                  <a:moveTo>
                    <a:pt x="211667" y="0"/>
                  </a:moveTo>
                  <a:lnTo>
                    <a:pt x="3598333" y="0"/>
                  </a:lnTo>
                  <a:cubicBezTo>
                    <a:pt x="3715234" y="0"/>
                    <a:pt x="3810000" y="94766"/>
                    <a:pt x="3810000" y="211667"/>
                  </a:cubicBezTo>
                  <a:lnTo>
                    <a:pt x="3810000" y="423333"/>
                  </a:lnTo>
                  <a:cubicBezTo>
                    <a:pt x="3810000" y="540234"/>
                    <a:pt x="3715234" y="635000"/>
                    <a:pt x="3598333" y="635000"/>
                  </a:cubicBezTo>
                  <a:lnTo>
                    <a:pt x="211667" y="635000"/>
                  </a:lnTo>
                  <a:cubicBezTo>
                    <a:pt x="94766" y="635000"/>
                    <a:pt x="0" y="540234"/>
                    <a:pt x="0" y="423333"/>
                  </a:cubicBezTo>
                  <a:lnTo>
                    <a:pt x="0" y="211667"/>
                  </a:lnTo>
                  <a:cubicBezTo>
                    <a:pt x="0" y="94766"/>
                    <a:pt x="94766" y="0"/>
                    <a:pt x="211667" y="0"/>
                  </a:cubicBezTo>
                  <a:close/>
                </a:path>
              </a:pathLst>
            </a:custGeom>
            <a:solidFill>
              <a:srgbClr val="C8FF3D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810000" cy="66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350" b="true">
                  <a:solidFill>
                    <a:srgbClr val="09061A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A* PAPER EVALUATION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4400" y="876300"/>
            <a:ext cx="7429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7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IEEE S&amp;P 2024 · COLUMBIA UNIVERSITY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2019300"/>
            <a:ext cx="9334500" cy="1077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6"/>
              </a:lnSpc>
            </a:pPr>
            <a:r>
              <a:rPr lang="en-US" sz="72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SmartInv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3219450"/>
            <a:ext cx="8001000" cy="1045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Multimodal Smart Contract</a:t>
            </a:r>
          </a:p>
          <a:p>
            <a:pPr algn="l">
              <a:lnSpc>
                <a:spcPts val="3888"/>
              </a:lnSpc>
            </a:pPr>
            <a:r>
              <a:rPr lang="en-US" sz="36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Invariant Inference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6534150"/>
            <a:ext cx="6191250" cy="73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C9C3DC"/>
                </a:solidFill>
                <a:latin typeface="DM Sans"/>
                <a:ea typeface="DM Sans"/>
                <a:cs typeface="DM Sans"/>
                <a:sym typeface="DM Sans"/>
              </a:rPr>
              <a:t>Mid-semester project review</a:t>
            </a:r>
          </a:p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C9C3DC"/>
                </a:solidFill>
                <a:latin typeface="DM Sans"/>
                <a:ea typeface="DM Sans"/>
                <a:cs typeface="DM Sans"/>
                <a:sym typeface="DM Sans"/>
              </a:rPr>
              <a:t>Rishi · 2024ucp1566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9629775"/>
            <a:ext cx="16459200" cy="312420"/>
            <a:chOff x="0" y="0"/>
            <a:chExt cx="21945600" cy="416560"/>
          </a:xfrm>
        </p:grpSpPr>
        <p:sp>
          <p:nvSpPr>
            <p:cNvPr name="AutoShape 14" id="14"/>
            <p:cNvSpPr/>
            <p:nvPr/>
          </p:nvSpPr>
          <p:spPr>
            <a:xfrm>
              <a:off x="0" y="12700"/>
              <a:ext cx="21945600" cy="0"/>
            </a:xfrm>
            <a:prstGeom prst="line">
              <a:avLst/>
            </a:prstGeom>
            <a:ln cap="flat" w="25400">
              <a:solidFill>
                <a:srgbClr val="332A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158750"/>
              <a:ext cx="8890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96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SMARTINV · MID-SEMESTER REVIEW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0878800" y="158750"/>
              <a:ext cx="10668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 / 13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9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6191250"/>
            <a:ext cx="3143250" cy="1143000"/>
            <a:chOff x="0" y="0"/>
            <a:chExt cx="4191000" cy="152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1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191000">
                  <a:moveTo>
                    <a:pt x="92364" y="0"/>
                  </a:moveTo>
                  <a:lnTo>
                    <a:pt x="4098636" y="0"/>
                  </a:lnTo>
                  <a:cubicBezTo>
                    <a:pt x="4123133" y="0"/>
                    <a:pt x="4146626" y="9731"/>
                    <a:pt x="4163947" y="27053"/>
                  </a:cubicBezTo>
                  <a:cubicBezTo>
                    <a:pt x="4181269" y="44374"/>
                    <a:pt x="4191000" y="67867"/>
                    <a:pt x="4191000" y="92364"/>
                  </a:cubicBezTo>
                  <a:lnTo>
                    <a:pt x="4191000" y="1431636"/>
                  </a:lnTo>
                  <a:cubicBezTo>
                    <a:pt x="4191000" y="1456133"/>
                    <a:pt x="4181269" y="1479626"/>
                    <a:pt x="4163947" y="1496947"/>
                  </a:cubicBezTo>
                  <a:cubicBezTo>
                    <a:pt x="4146626" y="1514269"/>
                    <a:pt x="4123133" y="1524000"/>
                    <a:pt x="4098636" y="1524000"/>
                  </a:cubicBezTo>
                  <a:lnTo>
                    <a:pt x="92364" y="1524000"/>
                  </a:lnTo>
                  <a:cubicBezTo>
                    <a:pt x="67867" y="1524000"/>
                    <a:pt x="44374" y="1514269"/>
                    <a:pt x="27053" y="1496947"/>
                  </a:cubicBezTo>
                  <a:cubicBezTo>
                    <a:pt x="9731" y="1479626"/>
                    <a:pt x="0" y="1456133"/>
                    <a:pt x="0" y="1431636"/>
                  </a:cubicBezTo>
                  <a:lnTo>
                    <a:pt x="0" y="92364"/>
                  </a:lnTo>
                  <a:cubicBezTo>
                    <a:pt x="0" y="67867"/>
                    <a:pt x="9731" y="44374"/>
                    <a:pt x="27053" y="27053"/>
                  </a:cubicBezTo>
                  <a:cubicBezTo>
                    <a:pt x="44374" y="9731"/>
                    <a:pt x="67867" y="0"/>
                    <a:pt x="92364" y="0"/>
                  </a:cubicBezTo>
                  <a:close/>
                </a:path>
              </a:pathLst>
            </a:custGeom>
            <a:solidFill>
              <a:srgbClr val="37E7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191000" cy="160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VALUE IN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4533900" y="6762750"/>
            <a:ext cx="742950" cy="0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5429250" y="6191250"/>
            <a:ext cx="3619500" cy="1143000"/>
            <a:chOff x="0" y="0"/>
            <a:chExt cx="4826000" cy="152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826000">
                  <a:moveTo>
                    <a:pt x="80211" y="0"/>
                  </a:moveTo>
                  <a:lnTo>
                    <a:pt x="4745789" y="0"/>
                  </a:lnTo>
                  <a:cubicBezTo>
                    <a:pt x="4767063" y="0"/>
                    <a:pt x="4787464" y="8451"/>
                    <a:pt x="4802507" y="23493"/>
                  </a:cubicBezTo>
                  <a:cubicBezTo>
                    <a:pt x="4817549" y="38536"/>
                    <a:pt x="4826000" y="58937"/>
                    <a:pt x="4826000" y="80211"/>
                  </a:cubicBezTo>
                  <a:lnTo>
                    <a:pt x="4826000" y="1443789"/>
                  </a:lnTo>
                  <a:cubicBezTo>
                    <a:pt x="4826000" y="1465063"/>
                    <a:pt x="4817549" y="1485464"/>
                    <a:pt x="4802507" y="1500507"/>
                  </a:cubicBezTo>
                  <a:cubicBezTo>
                    <a:pt x="4787464" y="1515549"/>
                    <a:pt x="4767063" y="1524000"/>
                    <a:pt x="4745789" y="1524000"/>
                  </a:cubicBezTo>
                  <a:lnTo>
                    <a:pt x="80211" y="1524000"/>
                  </a:lnTo>
                  <a:cubicBezTo>
                    <a:pt x="58937" y="1524000"/>
                    <a:pt x="38536" y="1515549"/>
                    <a:pt x="23493" y="1500507"/>
                  </a:cubicBezTo>
                  <a:cubicBezTo>
                    <a:pt x="8451" y="1485464"/>
                    <a:pt x="0" y="1465063"/>
                    <a:pt x="0" y="1443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7B5C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4826000" cy="160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CODE DECIDES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9201150" y="6762750"/>
            <a:ext cx="742950" cy="0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0096500" y="6191250"/>
            <a:ext cx="3429000" cy="1143000"/>
            <a:chOff x="0" y="0"/>
            <a:chExt cx="4572000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7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572000">
                  <a:moveTo>
                    <a:pt x="84667" y="0"/>
                  </a:moveTo>
                  <a:lnTo>
                    <a:pt x="4487333" y="0"/>
                  </a:lnTo>
                  <a:cubicBezTo>
                    <a:pt x="4534093" y="0"/>
                    <a:pt x="4572000" y="37907"/>
                    <a:pt x="4572000" y="84667"/>
                  </a:cubicBezTo>
                  <a:lnTo>
                    <a:pt x="4572000" y="1439333"/>
                  </a:lnTo>
                  <a:cubicBezTo>
                    <a:pt x="4572000" y="1486093"/>
                    <a:pt x="4534093" y="1524000"/>
                    <a:pt x="4487333" y="1524000"/>
                  </a:cubicBezTo>
                  <a:lnTo>
                    <a:pt x="84667" y="1524000"/>
                  </a:lnTo>
                  <a:cubicBezTo>
                    <a:pt x="37907" y="1524000"/>
                    <a:pt x="0" y="1486093"/>
                    <a:pt x="0" y="1439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C8FF3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4572000" cy="160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VALUE OUT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3677900" y="6762750"/>
            <a:ext cx="742950" cy="0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4573250" y="6191250"/>
            <a:ext cx="2476500" cy="1143000"/>
            <a:chOff x="0" y="0"/>
            <a:chExt cx="330200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0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302000">
                  <a:moveTo>
                    <a:pt x="117231" y="0"/>
                  </a:moveTo>
                  <a:lnTo>
                    <a:pt x="3184769" y="0"/>
                  </a:lnTo>
                  <a:cubicBezTo>
                    <a:pt x="3215861" y="0"/>
                    <a:pt x="3245679" y="12351"/>
                    <a:pt x="3267664" y="34336"/>
                  </a:cubicBezTo>
                  <a:cubicBezTo>
                    <a:pt x="3289649" y="56321"/>
                    <a:pt x="3302000" y="86139"/>
                    <a:pt x="3302000" y="117231"/>
                  </a:cubicBezTo>
                  <a:lnTo>
                    <a:pt x="3302000" y="1406769"/>
                  </a:lnTo>
                  <a:cubicBezTo>
                    <a:pt x="3302000" y="1437861"/>
                    <a:pt x="3289649" y="1467679"/>
                    <a:pt x="3267664" y="1489664"/>
                  </a:cubicBezTo>
                  <a:cubicBezTo>
                    <a:pt x="3245679" y="1511649"/>
                    <a:pt x="3215861" y="1524000"/>
                    <a:pt x="3184769" y="1524000"/>
                  </a:cubicBezTo>
                  <a:lnTo>
                    <a:pt x="117231" y="1524000"/>
                  </a:lnTo>
                  <a:cubicBezTo>
                    <a:pt x="86139" y="1524000"/>
                    <a:pt x="56321" y="1511649"/>
                    <a:pt x="34336" y="1489664"/>
                  </a:cubicBezTo>
                  <a:cubicBezTo>
                    <a:pt x="12351" y="1467679"/>
                    <a:pt x="0" y="1437861"/>
                    <a:pt x="0" y="1406769"/>
                  </a:cubicBezTo>
                  <a:lnTo>
                    <a:pt x="0" y="117231"/>
                  </a:lnTo>
                  <a:cubicBezTo>
                    <a:pt x="0" y="86139"/>
                    <a:pt x="12351" y="56321"/>
                    <a:pt x="34336" y="34336"/>
                  </a:cubicBezTo>
                  <a:cubicBezTo>
                    <a:pt x="56321" y="12351"/>
                    <a:pt x="86139" y="0"/>
                    <a:pt x="117231" y="0"/>
                  </a:cubicBezTo>
                  <a:close/>
                </a:path>
              </a:pathLst>
            </a:custGeom>
            <a:solidFill>
              <a:srgbClr val="FF3DA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3302000" cy="160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NO UNDO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4400" y="638175"/>
            <a:ext cx="857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7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$3.8B CRISIS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1114425"/>
            <a:ext cx="14763750" cy="73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Why one tiny bug can move billions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68000" y="2762250"/>
            <a:ext cx="590550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0"/>
              </a:lnSpc>
            </a:pPr>
            <a:r>
              <a:rPr lang="en-US" sz="6150" b="true">
                <a:solidFill>
                  <a:srgbClr val="FF3DA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$3.8B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68000" y="3629025"/>
            <a:ext cx="590550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sz="21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stolen in 2022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3105150"/>
            <a:ext cx="7620000" cy="111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smart contract is like a vending machine: insert value, rules run, output appears. But once deployed, the machine is public, automatic—and painfully hard to rewind.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14400" y="9629775"/>
            <a:ext cx="16459200" cy="312420"/>
            <a:chOff x="0" y="0"/>
            <a:chExt cx="21945600" cy="416560"/>
          </a:xfrm>
        </p:grpSpPr>
        <p:sp>
          <p:nvSpPr>
            <p:cNvPr name="AutoShape 23" id="23"/>
            <p:cNvSpPr/>
            <p:nvPr/>
          </p:nvSpPr>
          <p:spPr>
            <a:xfrm>
              <a:off x="0" y="12700"/>
              <a:ext cx="21945600" cy="0"/>
            </a:xfrm>
            <a:prstGeom prst="line">
              <a:avLst/>
            </a:prstGeom>
            <a:ln cap="flat" w="25400">
              <a:solidFill>
                <a:srgbClr val="332A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158750"/>
              <a:ext cx="8890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96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SMARTINV · MID-SEMESTER REVIEW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0878800" y="158750"/>
              <a:ext cx="10668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 / 13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38175"/>
            <a:ext cx="857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7B5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CORE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14425"/>
            <a:ext cx="14763750" cy="73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61027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Same codebase. Two very different enemies.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3143250"/>
            <a:ext cx="7429500" cy="4476750"/>
            <a:chOff x="0" y="0"/>
            <a:chExt cx="9906000" cy="5969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906000" cy="5969000"/>
              <a:chOff x="0" y="0"/>
              <a:chExt cx="9906000" cy="5969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906000" cy="5969000"/>
              </a:xfrm>
              <a:custGeom>
                <a:avLst/>
                <a:gdLst/>
                <a:ahLst/>
                <a:cxnLst/>
                <a:rect r="r" b="b" t="t" l="l"/>
                <a:pathLst>
                  <a:path h="5969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5969000"/>
                    </a:lnTo>
                    <a:lnTo>
                      <a:pt x="0" y="5969000"/>
                    </a:lnTo>
                    <a:close/>
                  </a:path>
                </a:pathLst>
              </a:custGeom>
              <a:solidFill>
                <a:srgbClr val="17122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9906000" cy="600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35000" y="542925"/>
              <a:ext cx="8509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37E7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IMPLEMENTATION BUG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635000" y="1127125"/>
              <a:ext cx="8509000" cy="838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sz="3450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The machine is built wrong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635000" y="3019425"/>
              <a:ext cx="8509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D9D3EB"/>
                  </a:solidFill>
                  <a:latin typeface="DM Sans"/>
                  <a:ea typeface="DM Sans"/>
                  <a:cs typeface="DM Sans"/>
                  <a:sym typeface="DM Sans"/>
                </a:rPr>
                <a:t>Overflow, reentrancy, access control. Think: a loose wire or jammed coin slot. Static analyzers are good here.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0" y="3143250"/>
            <a:ext cx="7429500" cy="4476750"/>
            <a:chOff x="0" y="0"/>
            <a:chExt cx="9906000" cy="5969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906000" cy="5969000"/>
              <a:chOff x="0" y="0"/>
              <a:chExt cx="9906000" cy="5969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906000" cy="5969000"/>
              </a:xfrm>
              <a:custGeom>
                <a:avLst/>
                <a:gdLst/>
                <a:ahLst/>
                <a:cxnLst/>
                <a:rect r="r" b="b" t="t" l="l"/>
                <a:pathLst>
                  <a:path h="5969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5969000"/>
                    </a:lnTo>
                    <a:lnTo>
                      <a:pt x="0" y="5969000"/>
                    </a:lnTo>
                    <a:close/>
                  </a:path>
                </a:pathLst>
              </a:custGeom>
              <a:solidFill>
                <a:srgbClr val="EBE5F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9906000" cy="600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35000" y="542925"/>
              <a:ext cx="8509000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FF3DA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FUNCTIONAL LOGIC FLAW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35000" y="1127125"/>
              <a:ext cx="8509000" cy="1651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30"/>
                </a:lnSpc>
              </a:pPr>
              <a:r>
                <a:rPr lang="en-US" sz="3450" b="true">
                  <a:solidFill>
                    <a:srgbClr val="161027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The machine follows the wrong rule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35000" y="3019425"/>
              <a:ext cx="8509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716B82"/>
                  </a:solidFill>
                  <a:latin typeface="DM Sans"/>
                  <a:ea typeface="DM Sans"/>
                  <a:cs typeface="DM Sans"/>
                  <a:sym typeface="DM Sans"/>
                </a:rPr>
                <a:t>The code runs exactly as written—but violates business intent. Think: dispensing two products for one payment.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9629775"/>
            <a:ext cx="16459200" cy="312420"/>
            <a:chOff x="0" y="0"/>
            <a:chExt cx="21945600" cy="416560"/>
          </a:xfrm>
        </p:grpSpPr>
        <p:sp>
          <p:nvSpPr>
            <p:cNvPr name="AutoShape 19" id="19"/>
            <p:cNvSpPr/>
            <p:nvPr/>
          </p:nvSpPr>
          <p:spPr>
            <a:xfrm>
              <a:off x="0" y="12700"/>
              <a:ext cx="21945600" cy="0"/>
            </a:xfrm>
            <a:prstGeom prst="line">
              <a:avLst/>
            </a:prstGeom>
            <a:ln cap="flat" w="25400">
              <a:solidFill>
                <a:srgbClr val="DED8E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0" id="20"/>
            <p:cNvSpPr txBox="true"/>
            <p:nvPr/>
          </p:nvSpPr>
          <p:spPr>
            <a:xfrm rot="0">
              <a:off x="0" y="158750"/>
              <a:ext cx="8890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96" b="true">
                  <a:solidFill>
                    <a:srgbClr val="1610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SMARTINV · MID-SEMESTER REVIEW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0878800" y="158750"/>
              <a:ext cx="10668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 b="true">
                  <a:solidFill>
                    <a:srgbClr val="1610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 / 13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763000" cy="10287000"/>
          </a:xfrm>
          <a:custGeom>
            <a:avLst/>
            <a:gdLst/>
            <a:ahLst/>
            <a:cxnLst/>
            <a:rect r="r" b="b" t="t" l="l"/>
            <a:pathLst>
              <a:path h="10287000" w="8763000">
                <a:moveTo>
                  <a:pt x="0" y="0"/>
                </a:moveTo>
                <a:lnTo>
                  <a:pt x="8763000" y="0"/>
                </a:lnTo>
                <a:lnTo>
                  <a:pt x="8763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" r="0" b="-35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810750" y="923925"/>
            <a:ext cx="7239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FF3DA4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CASE STUDY · VISOR FINANCE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10750" y="1695450"/>
            <a:ext cx="7239000" cy="21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$8.2M vanished through a rule nobody checked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10750" y="4914900"/>
            <a:ext cx="6858000" cy="148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CFC8DF"/>
                </a:solidFill>
                <a:latin typeface="DM Sans"/>
                <a:ea typeface="DM Sans"/>
                <a:cs typeface="DM Sans"/>
                <a:sym typeface="DM Sans"/>
              </a:rPr>
              <a:t>The attacker supplied fake deposit data. The contract accepted it because a crucial relationship was never enforced. Syntax scanners saw valid code; the business rule was missing.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10750" y="6667500"/>
            <a:ext cx="3476625" cy="476250"/>
            <a:chOff x="0" y="0"/>
            <a:chExt cx="4635500" cy="63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35500" cy="635000"/>
            </a:xfrm>
            <a:custGeom>
              <a:avLst/>
              <a:gdLst/>
              <a:ahLst/>
              <a:cxnLst/>
              <a:rect r="r" b="b" t="t" l="l"/>
              <a:pathLst>
                <a:path h="635000" w="4635500">
                  <a:moveTo>
                    <a:pt x="173973" y="0"/>
                  </a:moveTo>
                  <a:lnTo>
                    <a:pt x="4461527" y="0"/>
                  </a:lnTo>
                  <a:cubicBezTo>
                    <a:pt x="4557610" y="0"/>
                    <a:pt x="4635500" y="77890"/>
                    <a:pt x="4635500" y="173973"/>
                  </a:cubicBezTo>
                  <a:lnTo>
                    <a:pt x="4635500" y="461027"/>
                  </a:lnTo>
                  <a:cubicBezTo>
                    <a:pt x="4635500" y="557110"/>
                    <a:pt x="4557610" y="635000"/>
                    <a:pt x="4461527" y="635000"/>
                  </a:cubicBezTo>
                  <a:lnTo>
                    <a:pt x="173973" y="635000"/>
                  </a:lnTo>
                  <a:cubicBezTo>
                    <a:pt x="77890" y="635000"/>
                    <a:pt x="0" y="557110"/>
                    <a:pt x="0" y="461027"/>
                  </a:cubicBezTo>
                  <a:lnTo>
                    <a:pt x="0" y="173973"/>
                  </a:lnTo>
                  <a:cubicBezTo>
                    <a:pt x="0" y="77890"/>
                    <a:pt x="77890" y="0"/>
                    <a:pt x="173973" y="0"/>
                  </a:cubicBezTo>
                  <a:close/>
                </a:path>
              </a:pathLst>
            </a:custGeom>
            <a:solidFill>
              <a:srgbClr val="FF3DA4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635500" cy="66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35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TRADITIONAL TOOLS: PASSED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810750" y="7324725"/>
            <a:ext cx="647700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C8FF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Valid syntax ≠ valid intent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" y="9629775"/>
            <a:ext cx="16459200" cy="312420"/>
            <a:chOff x="0" y="0"/>
            <a:chExt cx="21945600" cy="416560"/>
          </a:xfrm>
        </p:grpSpPr>
        <p:sp>
          <p:nvSpPr>
            <p:cNvPr name="AutoShape 11" id="11"/>
            <p:cNvSpPr/>
            <p:nvPr/>
          </p:nvSpPr>
          <p:spPr>
            <a:xfrm>
              <a:off x="0" y="12700"/>
              <a:ext cx="21945600" cy="0"/>
            </a:xfrm>
            <a:prstGeom prst="line">
              <a:avLst/>
            </a:prstGeom>
            <a:ln cap="flat" w="25400">
              <a:solidFill>
                <a:srgbClr val="332A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158750"/>
              <a:ext cx="8890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96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SMARTINV · MID-SEMESTER REVIEW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0878800" y="158750"/>
              <a:ext cx="10668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 / 13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3333750"/>
            <a:ext cx="4762500" cy="3714750"/>
            <a:chOff x="0" y="0"/>
            <a:chExt cx="6350000" cy="4953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6350000" cy="4953000"/>
              <a:chOff x="0" y="0"/>
              <a:chExt cx="6350000" cy="4953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37E7FF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350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533400" y="635000"/>
              <a:ext cx="1524000" cy="1249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50"/>
                </a:lnSpc>
              </a:pPr>
              <a:r>
                <a:rPr lang="en-US" sz="6150" b="true">
                  <a:solidFill>
                    <a:srgbClr val="37E7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533400" y="2225675"/>
              <a:ext cx="54610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161027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Elevator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33400" y="3273425"/>
              <a:ext cx="5461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716B82"/>
                  </a:solidFill>
                  <a:latin typeface="DM Sans"/>
                  <a:ea typeface="DM Sans"/>
                  <a:cs typeface="DM Sans"/>
                  <a:sym typeface="DM Sans"/>
                </a:rPr>
                <a:t>Doors stay closed while moving.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62750" y="3333750"/>
            <a:ext cx="4762500" cy="3714750"/>
            <a:chOff x="0" y="0"/>
            <a:chExt cx="6350000" cy="4953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350000" cy="4953000"/>
              <a:chOff x="0" y="0"/>
              <a:chExt cx="6350000" cy="4953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DA4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350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33400" y="635000"/>
              <a:ext cx="1524000" cy="1249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50"/>
                </a:lnSpc>
              </a:pPr>
              <a:r>
                <a:rPr lang="en-US" sz="6150" b="true">
                  <a:solidFill>
                    <a:srgbClr val="FF3DA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33400" y="2225675"/>
              <a:ext cx="54610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161027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Bank account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33400" y="3273425"/>
              <a:ext cx="5461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716B82"/>
                  </a:solidFill>
                  <a:latin typeface="DM Sans"/>
                  <a:ea typeface="DM Sans"/>
                  <a:cs typeface="DM Sans"/>
                  <a:sym typeface="DM Sans"/>
                </a:rPr>
                <a:t>Balance never drops below allowed limits.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573000" y="3333750"/>
            <a:ext cx="4762500" cy="3714750"/>
            <a:chOff x="0" y="0"/>
            <a:chExt cx="6350000" cy="4953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350000" cy="4953000"/>
              <a:chOff x="0" y="0"/>
              <a:chExt cx="6350000" cy="4953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C8FF3D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350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533400" y="635000"/>
              <a:ext cx="1524000" cy="1249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50"/>
                </a:lnSpc>
              </a:pPr>
              <a:r>
                <a:rPr lang="en-US" sz="6150" b="true">
                  <a:solidFill>
                    <a:srgbClr val="C8FF3D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03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33400" y="2225675"/>
              <a:ext cx="54610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161027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Token vault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33400" y="3273425"/>
              <a:ext cx="5461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716B82"/>
                  </a:solidFill>
                  <a:latin typeface="DM Sans"/>
                  <a:ea typeface="DM Sans"/>
                  <a:cs typeface="DM Sans"/>
                  <a:sym typeface="DM Sans"/>
                </a:rPr>
                <a:t>Shares always match the assets inside.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14400" y="638175"/>
            <a:ext cx="857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7B5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GOLDEN RULE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1114425"/>
            <a:ext cx="14763750" cy="1355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61027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An invariant is a promise that must always stay true.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14400" y="9629775"/>
            <a:ext cx="16459200" cy="312420"/>
            <a:chOff x="0" y="0"/>
            <a:chExt cx="21945600" cy="416560"/>
          </a:xfrm>
        </p:grpSpPr>
        <p:sp>
          <p:nvSpPr>
            <p:cNvPr name="AutoShape 26" id="26"/>
            <p:cNvSpPr/>
            <p:nvPr/>
          </p:nvSpPr>
          <p:spPr>
            <a:xfrm>
              <a:off x="0" y="12700"/>
              <a:ext cx="21945600" cy="0"/>
            </a:xfrm>
            <a:prstGeom prst="line">
              <a:avLst/>
            </a:prstGeom>
            <a:ln cap="flat" w="25400">
              <a:solidFill>
                <a:srgbClr val="DED8E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7" id="27"/>
            <p:cNvSpPr txBox="true"/>
            <p:nvPr/>
          </p:nvSpPr>
          <p:spPr>
            <a:xfrm rot="0">
              <a:off x="0" y="158750"/>
              <a:ext cx="8890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96" b="true">
                  <a:solidFill>
                    <a:srgbClr val="1610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SMARTINV · MID-SEMESTER REVIEW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0878800" y="158750"/>
              <a:ext cx="10668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 b="true">
                  <a:solidFill>
                    <a:srgbClr val="1610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 / 13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9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4095750"/>
            <a:ext cx="4095750" cy="2000250"/>
            <a:chOff x="0" y="0"/>
            <a:chExt cx="5461000" cy="266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61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461000">
                  <a:moveTo>
                    <a:pt x="88605" y="0"/>
                  </a:moveTo>
                  <a:lnTo>
                    <a:pt x="5372395" y="0"/>
                  </a:lnTo>
                  <a:cubicBezTo>
                    <a:pt x="5421330" y="0"/>
                    <a:pt x="5461000" y="39670"/>
                    <a:pt x="5461000" y="88605"/>
                  </a:cubicBezTo>
                  <a:lnTo>
                    <a:pt x="5461000" y="2578395"/>
                  </a:lnTo>
                  <a:cubicBezTo>
                    <a:pt x="5461000" y="2627330"/>
                    <a:pt x="5421330" y="2667000"/>
                    <a:pt x="5372395" y="2667000"/>
                  </a:cubicBezTo>
                  <a:lnTo>
                    <a:pt x="88605" y="2667000"/>
                  </a:lnTo>
                  <a:cubicBezTo>
                    <a:pt x="39670" y="2667000"/>
                    <a:pt x="0" y="2627330"/>
                    <a:pt x="0" y="2578395"/>
                  </a:cubicBezTo>
                  <a:lnTo>
                    <a:pt x="0" y="88605"/>
                  </a:lnTo>
                  <a:cubicBezTo>
                    <a:pt x="0" y="39670"/>
                    <a:pt x="39670" y="0"/>
                    <a:pt x="88605" y="0"/>
                  </a:cubicBezTo>
                  <a:close/>
                </a:path>
              </a:pathLst>
            </a:custGeom>
            <a:solidFill>
              <a:srgbClr val="7B5C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461000" cy="2752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5"/>
                </a:lnSpc>
              </a:pPr>
              <a:r>
                <a:rPr lang="en-US" sz="2175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MULTIMODAL INPUT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5381625" y="5095875"/>
            <a:ext cx="1476375" cy="0"/>
          </a:xfrm>
          <a:prstGeom prst="line">
            <a:avLst/>
          </a:prstGeom>
          <a:ln cap="rnd" w="76200">
            <a:solidFill>
              <a:srgbClr val="37E7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7096125" y="4095750"/>
            <a:ext cx="4095750" cy="2000250"/>
            <a:chOff x="0" y="0"/>
            <a:chExt cx="5461000" cy="266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61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461000">
                  <a:moveTo>
                    <a:pt x="88605" y="0"/>
                  </a:moveTo>
                  <a:lnTo>
                    <a:pt x="5372395" y="0"/>
                  </a:lnTo>
                  <a:cubicBezTo>
                    <a:pt x="5421330" y="0"/>
                    <a:pt x="5461000" y="39670"/>
                    <a:pt x="5461000" y="88605"/>
                  </a:cubicBezTo>
                  <a:lnTo>
                    <a:pt x="5461000" y="2578395"/>
                  </a:lnTo>
                  <a:cubicBezTo>
                    <a:pt x="5461000" y="2627330"/>
                    <a:pt x="5421330" y="2667000"/>
                    <a:pt x="5372395" y="2667000"/>
                  </a:cubicBezTo>
                  <a:lnTo>
                    <a:pt x="88605" y="2667000"/>
                  </a:lnTo>
                  <a:cubicBezTo>
                    <a:pt x="39670" y="2667000"/>
                    <a:pt x="0" y="2627330"/>
                    <a:pt x="0" y="2578395"/>
                  </a:cubicBezTo>
                  <a:lnTo>
                    <a:pt x="0" y="88605"/>
                  </a:lnTo>
                  <a:cubicBezTo>
                    <a:pt x="0" y="39670"/>
                    <a:pt x="39670" y="0"/>
                    <a:pt x="88605" y="0"/>
                  </a:cubicBezTo>
                  <a:close/>
                </a:path>
              </a:pathLst>
            </a:custGeom>
            <a:solidFill>
              <a:srgbClr val="FF3DA4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5461000" cy="2752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5"/>
                </a:lnSpc>
              </a:pPr>
              <a:r>
                <a:rPr lang="en-US" sz="217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AI CANDIDATES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11430000" y="5095875"/>
            <a:ext cx="1476375" cy="0"/>
          </a:xfrm>
          <a:prstGeom prst="line">
            <a:avLst/>
          </a:prstGeom>
          <a:ln cap="rnd" w="76200">
            <a:solidFill>
              <a:srgbClr val="37E7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3144500" y="4095750"/>
            <a:ext cx="4095750" cy="2000250"/>
            <a:chOff x="0" y="0"/>
            <a:chExt cx="5461000" cy="266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61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461000">
                  <a:moveTo>
                    <a:pt x="88605" y="0"/>
                  </a:moveTo>
                  <a:lnTo>
                    <a:pt x="5372395" y="0"/>
                  </a:lnTo>
                  <a:cubicBezTo>
                    <a:pt x="5421330" y="0"/>
                    <a:pt x="5461000" y="39670"/>
                    <a:pt x="5461000" y="88605"/>
                  </a:cubicBezTo>
                  <a:lnTo>
                    <a:pt x="5461000" y="2578395"/>
                  </a:lnTo>
                  <a:cubicBezTo>
                    <a:pt x="5461000" y="2627330"/>
                    <a:pt x="5421330" y="2667000"/>
                    <a:pt x="5372395" y="2667000"/>
                  </a:cubicBezTo>
                  <a:lnTo>
                    <a:pt x="88605" y="2667000"/>
                  </a:lnTo>
                  <a:cubicBezTo>
                    <a:pt x="39670" y="2667000"/>
                    <a:pt x="0" y="2627330"/>
                    <a:pt x="0" y="2578395"/>
                  </a:cubicBezTo>
                  <a:lnTo>
                    <a:pt x="0" y="88605"/>
                  </a:lnTo>
                  <a:cubicBezTo>
                    <a:pt x="0" y="39670"/>
                    <a:pt x="39670" y="0"/>
                    <a:pt x="88605" y="0"/>
                  </a:cubicBezTo>
                  <a:close/>
                </a:path>
              </a:pathLst>
            </a:custGeom>
            <a:solidFill>
              <a:srgbClr val="C8FF3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5461000" cy="2752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5"/>
                </a:lnSpc>
              </a:pPr>
              <a:r>
                <a:rPr lang="en-US" sz="217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FORMAL PROOF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14400" y="638175"/>
            <a:ext cx="857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7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SMARTINV ARCHITECTURE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1114425"/>
            <a:ext cx="14763750" cy="73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AI guesses the rule. Math checks the homework.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7750" y="6448425"/>
            <a:ext cx="40957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75">
                <a:solidFill>
                  <a:srgbClr val="BFB7D3"/>
                </a:solidFill>
                <a:latin typeface="DM Sans"/>
                <a:ea typeface="DM Sans"/>
                <a:cs typeface="DM Sans"/>
                <a:sym typeface="DM Sans"/>
              </a:rPr>
              <a:t>code · specs · traces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96125" y="6448425"/>
            <a:ext cx="40957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75">
                <a:solidFill>
                  <a:srgbClr val="BFB7D3"/>
                </a:solidFill>
                <a:latin typeface="DM Sans"/>
                <a:ea typeface="DM Sans"/>
                <a:cs typeface="DM Sans"/>
                <a:sym typeface="DM Sans"/>
              </a:rPr>
              <a:t>plausible invariants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44500" y="6448425"/>
            <a:ext cx="40957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75">
                <a:solidFill>
                  <a:srgbClr val="BFB7D3"/>
                </a:solidFill>
                <a:latin typeface="DM Sans"/>
                <a:ea typeface="DM Sans"/>
                <a:cs typeface="DM Sans"/>
                <a:sym typeface="DM Sans"/>
              </a:rPr>
              <a:t>keep only what holds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4400" y="9629775"/>
            <a:ext cx="16459200" cy="312420"/>
            <a:chOff x="0" y="0"/>
            <a:chExt cx="21945600" cy="416560"/>
          </a:xfrm>
        </p:grpSpPr>
        <p:sp>
          <p:nvSpPr>
            <p:cNvPr name="AutoShape 19" id="19"/>
            <p:cNvSpPr/>
            <p:nvPr/>
          </p:nvSpPr>
          <p:spPr>
            <a:xfrm>
              <a:off x="0" y="12700"/>
              <a:ext cx="21945600" cy="0"/>
            </a:xfrm>
            <a:prstGeom prst="line">
              <a:avLst/>
            </a:prstGeom>
            <a:ln cap="flat" w="25400">
              <a:solidFill>
                <a:srgbClr val="332A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0" id="20"/>
            <p:cNvSpPr txBox="true"/>
            <p:nvPr/>
          </p:nvSpPr>
          <p:spPr>
            <a:xfrm rot="0">
              <a:off x="0" y="158750"/>
              <a:ext cx="8890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96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SMARTINV · MID-SEMESTER REVIEW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0878800" y="158750"/>
              <a:ext cx="10668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06 / 13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3429000"/>
            <a:ext cx="6477000" cy="1809750"/>
            <a:chOff x="0" y="0"/>
            <a:chExt cx="8636000" cy="2413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636000" cy="2413000"/>
              <a:chOff x="0" y="0"/>
              <a:chExt cx="8636000" cy="2413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636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8636000">
                    <a:moveTo>
                      <a:pt x="0" y="0"/>
                    </a:moveTo>
                    <a:lnTo>
                      <a:pt x="8636000" y="0"/>
                    </a:lnTo>
                    <a:lnTo>
                      <a:pt x="8636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37E7FF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8636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44500" y="339725"/>
              <a:ext cx="7747000" cy="582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161027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SOLIDITY CODE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44500" y="1177925"/>
              <a:ext cx="7747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716B82"/>
                  </a:solidFill>
                  <a:latin typeface="DM Sans"/>
                  <a:ea typeface="DM Sans"/>
                  <a:cs typeface="DM Sans"/>
                  <a:sym typeface="DM Sans"/>
                </a:rPr>
                <a:t>What the machine literally does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7620000" y="4333875"/>
            <a:ext cx="1524000" cy="1381125"/>
          </a:xfrm>
          <a:prstGeom prst="line">
            <a:avLst/>
          </a:prstGeom>
          <a:ln cap="flat" w="47625">
            <a:solidFill>
              <a:srgbClr val="37E7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43000" y="6191250"/>
            <a:ext cx="6477000" cy="1809750"/>
            <a:chOff x="0" y="0"/>
            <a:chExt cx="8636000" cy="2413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8636000" cy="2413000"/>
              <a:chOff x="0" y="0"/>
              <a:chExt cx="8636000" cy="2413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636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8636000">
                    <a:moveTo>
                      <a:pt x="0" y="0"/>
                    </a:moveTo>
                    <a:lnTo>
                      <a:pt x="8636000" y="0"/>
                    </a:lnTo>
                    <a:lnTo>
                      <a:pt x="8636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3DA4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636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44500" y="339725"/>
              <a:ext cx="7747000" cy="582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161027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NATURAL LANGUAGE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44500" y="1177925"/>
              <a:ext cx="7747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716B82"/>
                  </a:solidFill>
                  <a:latin typeface="DM Sans"/>
                  <a:ea typeface="DM Sans"/>
                  <a:cs typeface="DM Sans"/>
                  <a:sym typeface="DM Sans"/>
                </a:rPr>
                <a:t>What humans say it should do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7620000" y="5715000"/>
            <a:ext cx="1524000" cy="1381125"/>
          </a:xfrm>
          <a:prstGeom prst="line">
            <a:avLst/>
          </a:prstGeom>
          <a:ln cap="flat" w="47625">
            <a:solidFill>
              <a:srgbClr val="FF3DA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0001250" y="4810125"/>
            <a:ext cx="6477000" cy="1809750"/>
            <a:chOff x="0" y="0"/>
            <a:chExt cx="8636000" cy="2413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8636000" cy="2413000"/>
              <a:chOff x="0" y="0"/>
              <a:chExt cx="8636000" cy="2413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636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8636000">
                    <a:moveTo>
                      <a:pt x="0" y="0"/>
                    </a:moveTo>
                    <a:lnTo>
                      <a:pt x="8636000" y="0"/>
                    </a:lnTo>
                    <a:lnTo>
                      <a:pt x="8636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C8FF3D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8636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44500" y="339725"/>
              <a:ext cx="7747000" cy="582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161027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ON-CHAIN TRACES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44500" y="1177925"/>
              <a:ext cx="7747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716B82"/>
                  </a:solidFill>
                  <a:latin typeface="DM Sans"/>
                  <a:ea typeface="DM Sans"/>
                  <a:cs typeface="DM Sans"/>
                  <a:sym typeface="DM Sans"/>
                </a:rPr>
                <a:t>What it actually did in the wild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H="true">
            <a:off x="9144000" y="5715000"/>
            <a:ext cx="7334250" cy="0"/>
          </a:xfrm>
          <a:prstGeom prst="line">
            <a:avLst/>
          </a:prstGeom>
          <a:ln cap="flat" w="47625">
            <a:solidFill>
              <a:srgbClr val="C8FF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8096250" y="4667250"/>
            <a:ext cx="2095500" cy="2095500"/>
            <a:chOff x="0" y="0"/>
            <a:chExt cx="2794000" cy="279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94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2794000">
                  <a:moveTo>
                    <a:pt x="1397000" y="0"/>
                  </a:moveTo>
                  <a:cubicBezTo>
                    <a:pt x="2168542" y="0"/>
                    <a:pt x="2794000" y="625458"/>
                    <a:pt x="2794000" y="1397000"/>
                  </a:cubicBezTo>
                  <a:cubicBezTo>
                    <a:pt x="2794000" y="2168542"/>
                    <a:pt x="2168542" y="2794000"/>
                    <a:pt x="1397000" y="2794000"/>
                  </a:cubicBezTo>
                  <a:cubicBezTo>
                    <a:pt x="625458" y="2794000"/>
                    <a:pt x="0" y="2168542"/>
                    <a:pt x="0" y="1397000"/>
                  </a:cubicBezTo>
                  <a:cubicBezTo>
                    <a:pt x="0" y="625458"/>
                    <a:pt x="625458" y="0"/>
                    <a:pt x="1397000" y="0"/>
                  </a:cubicBezTo>
                  <a:close/>
                </a:path>
              </a:pathLst>
            </a:custGeom>
            <a:solidFill>
              <a:srgbClr val="7B5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2794000" cy="287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THE WHOLE</a:t>
              </a:r>
            </a:p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PICTURE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14400" y="638175"/>
            <a:ext cx="857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7B5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KEY INNOVATION 1 · MULTIMODAL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1114425"/>
            <a:ext cx="14763750" cy="73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61027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One contract. Three ways to understand it.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14400" y="9629775"/>
            <a:ext cx="16459200" cy="312420"/>
            <a:chOff x="0" y="0"/>
            <a:chExt cx="21945600" cy="416560"/>
          </a:xfrm>
        </p:grpSpPr>
        <p:sp>
          <p:nvSpPr>
            <p:cNvPr name="AutoShape 29" id="29"/>
            <p:cNvSpPr/>
            <p:nvPr/>
          </p:nvSpPr>
          <p:spPr>
            <a:xfrm>
              <a:off x="0" y="12700"/>
              <a:ext cx="21945600" cy="0"/>
            </a:xfrm>
            <a:prstGeom prst="line">
              <a:avLst/>
            </a:prstGeom>
            <a:ln cap="flat" w="25400">
              <a:solidFill>
                <a:srgbClr val="DED8E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0" id="30"/>
            <p:cNvSpPr txBox="true"/>
            <p:nvPr/>
          </p:nvSpPr>
          <p:spPr>
            <a:xfrm rot="0">
              <a:off x="0" y="158750"/>
              <a:ext cx="8890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96" b="true">
                  <a:solidFill>
                    <a:srgbClr val="1610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SMARTINV · MID-SEMESTER REVIEW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20878800" y="158750"/>
              <a:ext cx="10668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 b="true">
                  <a:solidFill>
                    <a:srgbClr val="1610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07 / 13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9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095750"/>
            <a:ext cx="2238375" cy="1714500"/>
            <a:chOff x="0" y="0"/>
            <a:chExt cx="29845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84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984500">
                  <a:moveTo>
                    <a:pt x="151319" y="0"/>
                  </a:moveTo>
                  <a:lnTo>
                    <a:pt x="2833181" y="0"/>
                  </a:lnTo>
                  <a:cubicBezTo>
                    <a:pt x="2916752" y="0"/>
                    <a:pt x="2984500" y="67748"/>
                    <a:pt x="2984500" y="151319"/>
                  </a:cubicBezTo>
                  <a:lnTo>
                    <a:pt x="2984500" y="2134681"/>
                  </a:lnTo>
                  <a:cubicBezTo>
                    <a:pt x="2984500" y="2218252"/>
                    <a:pt x="2916752" y="2286000"/>
                    <a:pt x="2833181" y="2286000"/>
                  </a:cubicBezTo>
                  <a:lnTo>
                    <a:pt x="151319" y="2286000"/>
                  </a:lnTo>
                  <a:cubicBezTo>
                    <a:pt x="67748" y="2286000"/>
                    <a:pt x="0" y="2218252"/>
                    <a:pt x="0" y="2134681"/>
                  </a:cubicBezTo>
                  <a:lnTo>
                    <a:pt x="0" y="151319"/>
                  </a:lnTo>
                  <a:cubicBezTo>
                    <a:pt x="0" y="67748"/>
                    <a:pt x="67748" y="0"/>
                    <a:pt x="151319" y="0"/>
                  </a:cubicBezTo>
                  <a:close/>
                </a:path>
              </a:pathLst>
            </a:custGeom>
            <a:solidFill>
              <a:srgbClr val="37E7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984500" cy="2362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1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READ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CONTEXT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3257550" y="4953000"/>
            <a:ext cx="476250" cy="1047750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3810000" y="5143500"/>
            <a:ext cx="2238375" cy="1714500"/>
            <a:chOff x="0" y="0"/>
            <a:chExt cx="29845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84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984500">
                  <a:moveTo>
                    <a:pt x="151319" y="0"/>
                  </a:moveTo>
                  <a:lnTo>
                    <a:pt x="2833181" y="0"/>
                  </a:lnTo>
                  <a:cubicBezTo>
                    <a:pt x="2916752" y="0"/>
                    <a:pt x="2984500" y="67748"/>
                    <a:pt x="2984500" y="151319"/>
                  </a:cubicBezTo>
                  <a:lnTo>
                    <a:pt x="2984500" y="2134681"/>
                  </a:lnTo>
                  <a:cubicBezTo>
                    <a:pt x="2984500" y="2218252"/>
                    <a:pt x="2916752" y="2286000"/>
                    <a:pt x="2833181" y="2286000"/>
                  </a:cubicBezTo>
                  <a:lnTo>
                    <a:pt x="151319" y="2286000"/>
                  </a:lnTo>
                  <a:cubicBezTo>
                    <a:pt x="67748" y="2286000"/>
                    <a:pt x="0" y="2218252"/>
                    <a:pt x="0" y="2134681"/>
                  </a:cubicBezTo>
                  <a:lnTo>
                    <a:pt x="0" y="151319"/>
                  </a:lnTo>
                  <a:cubicBezTo>
                    <a:pt x="0" y="67748"/>
                    <a:pt x="67748" y="0"/>
                    <a:pt x="151319" y="0"/>
                  </a:cubicBezTo>
                  <a:close/>
                </a:path>
              </a:pathLst>
            </a:custGeom>
            <a:solidFill>
              <a:srgbClr val="7B5C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984500" cy="2362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2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MAP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ENTITIES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6115050" y="4953000"/>
            <a:ext cx="476250" cy="1047750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6667500" y="4095750"/>
            <a:ext cx="2238375" cy="1714500"/>
            <a:chOff x="0" y="0"/>
            <a:chExt cx="2984500" cy="228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84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984500">
                  <a:moveTo>
                    <a:pt x="151319" y="0"/>
                  </a:moveTo>
                  <a:lnTo>
                    <a:pt x="2833181" y="0"/>
                  </a:lnTo>
                  <a:cubicBezTo>
                    <a:pt x="2916752" y="0"/>
                    <a:pt x="2984500" y="67748"/>
                    <a:pt x="2984500" y="151319"/>
                  </a:cubicBezTo>
                  <a:lnTo>
                    <a:pt x="2984500" y="2134681"/>
                  </a:lnTo>
                  <a:cubicBezTo>
                    <a:pt x="2984500" y="2218252"/>
                    <a:pt x="2916752" y="2286000"/>
                    <a:pt x="2833181" y="2286000"/>
                  </a:cubicBezTo>
                  <a:lnTo>
                    <a:pt x="151319" y="2286000"/>
                  </a:lnTo>
                  <a:cubicBezTo>
                    <a:pt x="67748" y="2286000"/>
                    <a:pt x="0" y="2218252"/>
                    <a:pt x="0" y="2134681"/>
                  </a:cubicBezTo>
                  <a:lnTo>
                    <a:pt x="0" y="151319"/>
                  </a:lnTo>
                  <a:cubicBezTo>
                    <a:pt x="0" y="67748"/>
                    <a:pt x="67748" y="0"/>
                    <a:pt x="151319" y="0"/>
                  </a:cubicBezTo>
                  <a:close/>
                </a:path>
              </a:pathLst>
            </a:custGeom>
            <a:solidFill>
              <a:srgbClr val="FF3DA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2984500" cy="2362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3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FIND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RELATIONS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8972550" y="4953000"/>
            <a:ext cx="476250" cy="1047750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9525000" y="5143500"/>
            <a:ext cx="2238375" cy="1714500"/>
            <a:chOff x="0" y="0"/>
            <a:chExt cx="2984500" cy="228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84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984500">
                  <a:moveTo>
                    <a:pt x="151319" y="0"/>
                  </a:moveTo>
                  <a:lnTo>
                    <a:pt x="2833181" y="0"/>
                  </a:lnTo>
                  <a:cubicBezTo>
                    <a:pt x="2916752" y="0"/>
                    <a:pt x="2984500" y="67748"/>
                    <a:pt x="2984500" y="151319"/>
                  </a:cubicBezTo>
                  <a:lnTo>
                    <a:pt x="2984500" y="2134681"/>
                  </a:lnTo>
                  <a:cubicBezTo>
                    <a:pt x="2984500" y="2218252"/>
                    <a:pt x="2916752" y="2286000"/>
                    <a:pt x="2833181" y="2286000"/>
                  </a:cubicBezTo>
                  <a:lnTo>
                    <a:pt x="151319" y="2286000"/>
                  </a:lnTo>
                  <a:cubicBezTo>
                    <a:pt x="67748" y="2286000"/>
                    <a:pt x="0" y="2218252"/>
                    <a:pt x="0" y="2134681"/>
                  </a:cubicBezTo>
                  <a:lnTo>
                    <a:pt x="0" y="151319"/>
                  </a:lnTo>
                  <a:cubicBezTo>
                    <a:pt x="0" y="67748"/>
                    <a:pt x="67748" y="0"/>
                    <a:pt x="151319" y="0"/>
                  </a:cubicBezTo>
                  <a:close/>
                </a:path>
              </a:pathLst>
            </a:custGeom>
            <a:solidFill>
              <a:srgbClr val="C8FF3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2984500" cy="2362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4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PROPOSE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RULES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11830050" y="4953000"/>
            <a:ext cx="476250" cy="1047750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2382500" y="4095750"/>
            <a:ext cx="2238375" cy="1714500"/>
            <a:chOff x="0" y="0"/>
            <a:chExt cx="2984500" cy="228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84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984500">
                  <a:moveTo>
                    <a:pt x="151319" y="0"/>
                  </a:moveTo>
                  <a:lnTo>
                    <a:pt x="2833181" y="0"/>
                  </a:lnTo>
                  <a:cubicBezTo>
                    <a:pt x="2916752" y="0"/>
                    <a:pt x="2984500" y="67748"/>
                    <a:pt x="2984500" y="151319"/>
                  </a:cubicBezTo>
                  <a:lnTo>
                    <a:pt x="2984500" y="2134681"/>
                  </a:lnTo>
                  <a:cubicBezTo>
                    <a:pt x="2984500" y="2218252"/>
                    <a:pt x="2916752" y="2286000"/>
                    <a:pt x="2833181" y="2286000"/>
                  </a:cubicBezTo>
                  <a:lnTo>
                    <a:pt x="151319" y="2286000"/>
                  </a:lnTo>
                  <a:cubicBezTo>
                    <a:pt x="67748" y="2286000"/>
                    <a:pt x="0" y="2218252"/>
                    <a:pt x="0" y="2134681"/>
                  </a:cubicBezTo>
                  <a:lnTo>
                    <a:pt x="0" y="151319"/>
                  </a:lnTo>
                  <a:cubicBezTo>
                    <a:pt x="0" y="67748"/>
                    <a:pt x="67748" y="0"/>
                    <a:pt x="151319" y="0"/>
                  </a:cubicBezTo>
                  <a:close/>
                </a:path>
              </a:pathLst>
            </a:custGeom>
            <a:solidFill>
              <a:srgbClr val="37E7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2984500" cy="2362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5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VERIFY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LOGIC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4687550" y="4953000"/>
            <a:ext cx="476250" cy="1047750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5240000" y="5143500"/>
            <a:ext cx="2238375" cy="1714500"/>
            <a:chOff x="0" y="0"/>
            <a:chExt cx="2984500" cy="2286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84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984500">
                  <a:moveTo>
                    <a:pt x="151319" y="0"/>
                  </a:moveTo>
                  <a:lnTo>
                    <a:pt x="2833181" y="0"/>
                  </a:lnTo>
                  <a:cubicBezTo>
                    <a:pt x="2916752" y="0"/>
                    <a:pt x="2984500" y="67748"/>
                    <a:pt x="2984500" y="151319"/>
                  </a:cubicBezTo>
                  <a:lnTo>
                    <a:pt x="2984500" y="2134681"/>
                  </a:lnTo>
                  <a:cubicBezTo>
                    <a:pt x="2984500" y="2218252"/>
                    <a:pt x="2916752" y="2286000"/>
                    <a:pt x="2833181" y="2286000"/>
                  </a:cubicBezTo>
                  <a:lnTo>
                    <a:pt x="151319" y="2286000"/>
                  </a:lnTo>
                  <a:cubicBezTo>
                    <a:pt x="67748" y="2286000"/>
                    <a:pt x="0" y="2218252"/>
                    <a:pt x="0" y="2134681"/>
                  </a:cubicBezTo>
                  <a:lnTo>
                    <a:pt x="0" y="151319"/>
                  </a:lnTo>
                  <a:cubicBezTo>
                    <a:pt x="0" y="67748"/>
                    <a:pt x="67748" y="0"/>
                    <a:pt x="151319" y="0"/>
                  </a:cubicBezTo>
                  <a:close/>
                </a:path>
              </a:pathLst>
            </a:custGeom>
            <a:solidFill>
              <a:srgbClr val="FF3DA4"/>
            </a:soli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2984500" cy="2362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6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PROVE OR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9061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REJECT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14400" y="638175"/>
            <a:ext cx="857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7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KEY INNOVATION 2 · TIER OF THOUGHT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1114425"/>
            <a:ext cx="14763750" cy="73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Six small reasoning steps beat one giant guess.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810000" y="7696200"/>
            <a:ext cx="10668000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4"/>
              </a:lnSpc>
            </a:pPr>
            <a:r>
              <a:rPr lang="en-US" sz="2775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Structure is the guardrail against hallucination.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14400" y="9629775"/>
            <a:ext cx="16459200" cy="312420"/>
            <a:chOff x="0" y="0"/>
            <a:chExt cx="21945600" cy="416560"/>
          </a:xfrm>
        </p:grpSpPr>
        <p:sp>
          <p:nvSpPr>
            <p:cNvPr name="AutoShape 29" id="29"/>
            <p:cNvSpPr/>
            <p:nvPr/>
          </p:nvSpPr>
          <p:spPr>
            <a:xfrm>
              <a:off x="0" y="12700"/>
              <a:ext cx="21945600" cy="0"/>
            </a:xfrm>
            <a:prstGeom prst="line">
              <a:avLst/>
            </a:prstGeom>
            <a:ln cap="flat" w="25400">
              <a:solidFill>
                <a:srgbClr val="332A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0" id="30"/>
            <p:cNvSpPr txBox="true"/>
            <p:nvPr/>
          </p:nvSpPr>
          <p:spPr>
            <a:xfrm rot="0">
              <a:off x="0" y="158750"/>
              <a:ext cx="8890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96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SMARTINV · MID-SEMESTER REVIEW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20878800" y="158750"/>
              <a:ext cx="10668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08 / 13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38175"/>
            <a:ext cx="857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7B5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EXPERIMENTAL BENCHMARKS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14425"/>
            <a:ext cx="14763750" cy="73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61027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Tested at ecosystem scale—not on toy examples.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4209" y="2384952"/>
            <a:ext cx="12424583" cy="6850595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573000" y="3810000"/>
            <a:ext cx="476250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0"/>
              </a:lnSpc>
            </a:pPr>
            <a:r>
              <a:rPr lang="en-US" sz="6150" b="true">
                <a:solidFill>
                  <a:srgbClr val="FF3DA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80,000+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73000" y="4819650"/>
            <a:ext cx="4095750" cy="73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61027"/>
                </a:solidFill>
                <a:latin typeface="DM Sans"/>
                <a:ea typeface="DM Sans"/>
                <a:cs typeface="DM Sans"/>
                <a:sym typeface="DM Sans"/>
              </a:rPr>
              <a:t>real Ethereum contracts formed the learning base.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3000" y="6543675"/>
            <a:ext cx="4095750" cy="93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716B82"/>
                </a:solidFill>
                <a:latin typeface="DM Sans"/>
                <a:ea typeface="DM Sans"/>
                <a:cs typeface="DM Sans"/>
                <a:sym typeface="DM Sans"/>
              </a:rPr>
              <a:t>Scale matters: rare logic patterns only appear when the dataset is broad.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9629775"/>
            <a:ext cx="16459200" cy="312420"/>
            <a:chOff x="0" y="0"/>
            <a:chExt cx="21945600" cy="416560"/>
          </a:xfrm>
        </p:grpSpPr>
        <p:sp>
          <p:nvSpPr>
            <p:cNvPr name="AutoShape 9" id="9"/>
            <p:cNvSpPr/>
            <p:nvPr/>
          </p:nvSpPr>
          <p:spPr>
            <a:xfrm>
              <a:off x="0" y="12700"/>
              <a:ext cx="21945600" cy="0"/>
            </a:xfrm>
            <a:prstGeom prst="line">
              <a:avLst/>
            </a:prstGeom>
            <a:ln cap="flat" w="25400">
              <a:solidFill>
                <a:srgbClr val="DED8E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158750"/>
              <a:ext cx="8890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96" b="true">
                  <a:solidFill>
                    <a:srgbClr val="1610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SMARTINV · MID-SEMESTER REVIEW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0878800" y="158750"/>
              <a:ext cx="10668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 b="true">
                  <a:solidFill>
                    <a:srgbClr val="1610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09 / 13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38175"/>
            <a:ext cx="857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7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REAL-WORLD IMPACT · MAINNET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14425"/>
            <a:ext cx="14763750" cy="73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119 bugs nobody knew existed.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002732" y="3054481"/>
            <a:ext cx="4757786" cy="5702039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1334750" y="3000375"/>
            <a:ext cx="4953000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0"/>
              </a:lnSpc>
            </a:pPr>
            <a:r>
              <a:rPr lang="en-US" sz="11250" b="true">
                <a:solidFill>
                  <a:srgbClr val="C8FF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119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0" y="4819650"/>
            <a:ext cx="4762500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ZERO-DAYS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0" y="5962650"/>
            <a:ext cx="4762500" cy="111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C9C3DC"/>
                </a:solidFill>
                <a:latin typeface="DM Sans"/>
                <a:ea typeface="DM Sans"/>
                <a:cs typeface="DM Sans"/>
                <a:sym typeface="DM Sans"/>
              </a:rPr>
              <a:t>Fresh mainnet findings turn SmartInv from a clever paper into a practical security system.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9629775"/>
            <a:ext cx="16459200" cy="312420"/>
            <a:chOff x="0" y="0"/>
            <a:chExt cx="21945600" cy="416560"/>
          </a:xfrm>
        </p:grpSpPr>
        <p:sp>
          <p:nvSpPr>
            <p:cNvPr name="AutoShape 9" id="9"/>
            <p:cNvSpPr/>
            <p:nvPr/>
          </p:nvSpPr>
          <p:spPr>
            <a:xfrm>
              <a:off x="0" y="12700"/>
              <a:ext cx="21945600" cy="0"/>
            </a:xfrm>
            <a:prstGeom prst="line">
              <a:avLst/>
            </a:prstGeom>
            <a:ln cap="flat" w="25400">
              <a:solidFill>
                <a:srgbClr val="332A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158750"/>
              <a:ext cx="8890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96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SMARTINV · MID-SEMESTER REVIEW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0878800" y="158750"/>
              <a:ext cx="10668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 / 13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38175"/>
            <a:ext cx="857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7B5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ABLATION STUDY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14425"/>
            <a:ext cx="14763750" cy="1355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61027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Remove Tier of Thought—and the system loses its edge.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8110" y="2402599"/>
            <a:ext cx="13351219" cy="6815301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3239750" y="3848100"/>
            <a:ext cx="381000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true">
                <a:solidFill>
                  <a:srgbClr val="FF3DA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ToT is the hero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39750" y="5591175"/>
            <a:ext cx="3810000" cy="125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716B82"/>
                </a:solidFill>
                <a:latin typeface="DM Sans"/>
                <a:ea typeface="DM Sans"/>
                <a:cs typeface="DM Sans"/>
                <a:sym typeface="DM Sans"/>
              </a:rPr>
              <a:t>It converts fuzzy model intuition into a repeatable checklist—raising precision and making errors easier to inspect.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9629775"/>
            <a:ext cx="16459200" cy="312420"/>
            <a:chOff x="0" y="0"/>
            <a:chExt cx="21945600" cy="416560"/>
          </a:xfrm>
        </p:grpSpPr>
        <p:sp>
          <p:nvSpPr>
            <p:cNvPr name="AutoShape 8" id="8"/>
            <p:cNvSpPr/>
            <p:nvPr/>
          </p:nvSpPr>
          <p:spPr>
            <a:xfrm>
              <a:off x="0" y="12700"/>
              <a:ext cx="21945600" cy="0"/>
            </a:xfrm>
            <a:prstGeom prst="line">
              <a:avLst/>
            </a:prstGeom>
            <a:ln cap="flat" w="25400">
              <a:solidFill>
                <a:srgbClr val="DED8E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158750"/>
              <a:ext cx="8890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96" b="true">
                  <a:solidFill>
                    <a:srgbClr val="1610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SMARTINV · MID-SEMESTER REVIEW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0878800" y="158750"/>
              <a:ext cx="10668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 b="true">
                  <a:solidFill>
                    <a:srgbClr val="1610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11 / 13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9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3238500"/>
            <a:ext cx="7620000" cy="2000250"/>
            <a:chOff x="0" y="0"/>
            <a:chExt cx="10160000" cy="2667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160000" cy="2667000"/>
              <a:chOff x="0" y="0"/>
              <a:chExt cx="10160000" cy="2667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160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17122E"/>
              </a:solidFill>
              <a:ln w="19050" cap="sq">
                <a:solidFill>
                  <a:srgbClr val="37E7FF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0160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06400" y="279400"/>
              <a:ext cx="1270000" cy="934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3900" b="true">
                  <a:solidFill>
                    <a:srgbClr val="37E7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032000" y="485775"/>
              <a:ext cx="7112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ENVIRONMENT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032000" y="1177925"/>
              <a:ext cx="7112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BFB8D1"/>
                  </a:solidFill>
                  <a:latin typeface="DM Sans"/>
                  <a:ea typeface="DM Sans"/>
                  <a:cs typeface="DM Sans"/>
                  <a:sym typeface="DM Sans"/>
                </a:rPr>
                <a:t>Reproduced the stack locally on Windows.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4500" y="3238500"/>
            <a:ext cx="7620000" cy="2000250"/>
            <a:chOff x="0" y="0"/>
            <a:chExt cx="10160000" cy="2667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160000" cy="2667000"/>
              <a:chOff x="0" y="0"/>
              <a:chExt cx="10160000" cy="2667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160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17122E"/>
              </a:solidFill>
              <a:ln w="19050" cap="sq">
                <a:solidFill>
                  <a:srgbClr val="FF3DA4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160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06400" y="279400"/>
              <a:ext cx="1270000" cy="934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3900" b="true">
                  <a:solidFill>
                    <a:srgbClr val="FF3DA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032000" y="485775"/>
              <a:ext cx="7112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BUG FIXES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032000" y="1177925"/>
              <a:ext cx="7112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BFB8D1"/>
                  </a:solidFill>
                  <a:latin typeface="DM Sans"/>
                  <a:ea typeface="DM Sans"/>
                  <a:cs typeface="DM Sans"/>
                  <a:sym typeface="DM Sans"/>
                </a:rPr>
                <a:t>Patched path, dependency and shell issues.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500" y="5810250"/>
            <a:ext cx="7620000" cy="2000250"/>
            <a:chOff x="0" y="0"/>
            <a:chExt cx="10160000" cy="2667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160000" cy="2667000"/>
              <a:chOff x="0" y="0"/>
              <a:chExt cx="10160000" cy="2667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160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17122E"/>
              </a:solidFill>
              <a:ln w="19050" cap="sq">
                <a:solidFill>
                  <a:srgbClr val="C8FF3D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0160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06400" y="279400"/>
              <a:ext cx="1270000" cy="934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3900" b="true">
                  <a:solidFill>
                    <a:srgbClr val="C8FF3D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03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032000" y="485775"/>
              <a:ext cx="7112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DATASET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32000" y="1177925"/>
              <a:ext cx="7112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BFB8D1"/>
                  </a:solidFill>
                  <a:latin typeface="DM Sans"/>
                  <a:ea typeface="DM Sans"/>
                  <a:cs typeface="DM Sans"/>
                  <a:sym typeface="DM Sans"/>
                </a:rPr>
                <a:t>Generated contract samples and metadata.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34500" y="5810250"/>
            <a:ext cx="7620000" cy="2000250"/>
            <a:chOff x="0" y="0"/>
            <a:chExt cx="10160000" cy="2667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160000" cy="2667000"/>
              <a:chOff x="0" y="0"/>
              <a:chExt cx="10160000" cy="2667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160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17122E"/>
              </a:solidFill>
              <a:ln w="19050" cap="sq">
                <a:solidFill>
                  <a:srgbClr val="7B5CFF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0160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406400" y="279400"/>
              <a:ext cx="1270000" cy="934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3900" b="true">
                  <a:solidFill>
                    <a:srgbClr val="7B5C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04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032000" y="485775"/>
              <a:ext cx="7112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PIPELINE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2032000" y="1177925"/>
              <a:ext cx="7112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BFB8D1"/>
                  </a:solidFill>
                  <a:latin typeface="DM Sans"/>
                  <a:ea typeface="DM Sans"/>
                  <a:cs typeface="DM Sans"/>
                  <a:sym typeface="DM Sans"/>
                </a:rPr>
                <a:t>Validated end-to-end inference stages.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638175"/>
            <a:ext cx="857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7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MID-SEMESTER PRACTICAL MILESTONES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4400" y="1114425"/>
            <a:ext cx="14763750" cy="73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From paper to a working local pipeline.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14400" y="9629775"/>
            <a:ext cx="16459200" cy="312420"/>
            <a:chOff x="0" y="0"/>
            <a:chExt cx="21945600" cy="416560"/>
          </a:xfrm>
        </p:grpSpPr>
        <p:sp>
          <p:nvSpPr>
            <p:cNvPr name="AutoShape 33" id="33"/>
            <p:cNvSpPr/>
            <p:nvPr/>
          </p:nvSpPr>
          <p:spPr>
            <a:xfrm>
              <a:off x="0" y="12700"/>
              <a:ext cx="21945600" cy="0"/>
            </a:xfrm>
            <a:prstGeom prst="line">
              <a:avLst/>
            </a:prstGeom>
            <a:ln cap="flat" w="25400">
              <a:solidFill>
                <a:srgbClr val="332A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4" id="34"/>
            <p:cNvSpPr txBox="true"/>
            <p:nvPr/>
          </p:nvSpPr>
          <p:spPr>
            <a:xfrm rot="0">
              <a:off x="0" y="158750"/>
              <a:ext cx="8890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96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SMARTINV · MID-SEMESTER REVIEW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0878800" y="158750"/>
              <a:ext cx="10668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12 / 13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68000" y="0"/>
            <a:ext cx="7620000" cy="10287000"/>
          </a:xfrm>
          <a:custGeom>
            <a:avLst/>
            <a:gdLst/>
            <a:ahLst/>
            <a:cxnLst/>
            <a:rect r="r" b="b" t="t" l="l"/>
            <a:pathLst>
              <a:path h="10287000" w="7620000">
                <a:moveTo>
                  <a:pt x="0" y="0"/>
                </a:moveTo>
                <a:lnTo>
                  <a:pt x="7620000" y="0"/>
                </a:lnTo>
                <a:lnTo>
                  <a:pt x="7620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" r="0" b="-5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14400" y="923925"/>
            <a:ext cx="666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37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CONCLUSION · VIVA DEFENSE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781175"/>
            <a:ext cx="10001250" cy="170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60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SmartInv sees</a:t>
            </a:r>
          </a:p>
          <a:p>
            <a:pPr algn="l">
              <a:lnSpc>
                <a:spcPts val="6120"/>
              </a:lnSpc>
            </a:pPr>
            <a:r>
              <a:rPr lang="en-US" sz="60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what syntax misses.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4724400"/>
            <a:ext cx="7905750" cy="111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C8C1D8"/>
                </a:solidFill>
                <a:latin typeface="DM Sans"/>
                <a:ea typeface="DM Sans"/>
                <a:cs typeface="DM Sans"/>
                <a:sym typeface="DM Sans"/>
              </a:rPr>
              <a:t>Multimodal context finds the intent. Tier of Thought structures the reasoning. Formal verification keeps every claim honest.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400" y="6477000"/>
            <a:ext cx="4476750" cy="476250"/>
            <a:chOff x="0" y="0"/>
            <a:chExt cx="5969000" cy="63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69000" cy="635000"/>
            </a:xfrm>
            <a:custGeom>
              <a:avLst/>
              <a:gdLst/>
              <a:ahLst/>
              <a:cxnLst/>
              <a:rect r="r" b="b" t="t" l="l"/>
              <a:pathLst>
                <a:path h="635000" w="5969000">
                  <a:moveTo>
                    <a:pt x="135106" y="0"/>
                  </a:moveTo>
                  <a:lnTo>
                    <a:pt x="5833894" y="0"/>
                  </a:lnTo>
                  <a:cubicBezTo>
                    <a:pt x="5869726" y="0"/>
                    <a:pt x="5904091" y="14234"/>
                    <a:pt x="5929428" y="39572"/>
                  </a:cubicBezTo>
                  <a:cubicBezTo>
                    <a:pt x="5954766" y="64909"/>
                    <a:pt x="5969000" y="99274"/>
                    <a:pt x="5969000" y="135106"/>
                  </a:cubicBezTo>
                  <a:lnTo>
                    <a:pt x="5969000" y="499894"/>
                  </a:lnTo>
                  <a:cubicBezTo>
                    <a:pt x="5969000" y="535726"/>
                    <a:pt x="5954766" y="570091"/>
                    <a:pt x="5929428" y="595428"/>
                  </a:cubicBezTo>
                  <a:cubicBezTo>
                    <a:pt x="5904091" y="620766"/>
                    <a:pt x="5869726" y="635000"/>
                    <a:pt x="5833894" y="635000"/>
                  </a:cubicBezTo>
                  <a:lnTo>
                    <a:pt x="135106" y="635000"/>
                  </a:lnTo>
                  <a:cubicBezTo>
                    <a:pt x="99274" y="635000"/>
                    <a:pt x="64909" y="620766"/>
                    <a:pt x="39572" y="595428"/>
                  </a:cubicBezTo>
                  <a:cubicBezTo>
                    <a:pt x="14234" y="570091"/>
                    <a:pt x="0" y="535726"/>
                    <a:pt x="0" y="499894"/>
                  </a:cubicBezTo>
                  <a:lnTo>
                    <a:pt x="0" y="135106"/>
                  </a:lnTo>
                  <a:cubicBezTo>
                    <a:pt x="0" y="99274"/>
                    <a:pt x="14234" y="64909"/>
                    <a:pt x="39572" y="39572"/>
                  </a:cubicBezTo>
                  <a:cubicBezTo>
                    <a:pt x="64909" y="14234"/>
                    <a:pt x="99274" y="0"/>
                    <a:pt x="135106" y="0"/>
                  </a:cubicBezTo>
                  <a:close/>
                </a:path>
              </a:pathLst>
            </a:custGeom>
            <a:solidFill>
              <a:srgbClr val="FF3DA4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969000" cy="66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35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AI INTUITION × MATHEMATICAL PROOF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4400" y="7124700"/>
            <a:ext cx="8096250" cy="554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5" b="true">
                <a:solidFill>
                  <a:srgbClr val="C8FF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Questions? Let’s stress-test the idea.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" y="9629775"/>
            <a:ext cx="16459200" cy="312420"/>
            <a:chOff x="0" y="0"/>
            <a:chExt cx="21945600" cy="416560"/>
          </a:xfrm>
        </p:grpSpPr>
        <p:sp>
          <p:nvSpPr>
            <p:cNvPr name="AutoShape 11" id="11"/>
            <p:cNvSpPr/>
            <p:nvPr/>
          </p:nvSpPr>
          <p:spPr>
            <a:xfrm>
              <a:off x="0" y="12700"/>
              <a:ext cx="21945600" cy="0"/>
            </a:xfrm>
            <a:prstGeom prst="line">
              <a:avLst/>
            </a:prstGeom>
            <a:ln cap="flat" w="25400">
              <a:solidFill>
                <a:srgbClr val="332A5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158750"/>
              <a:ext cx="8890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96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SMARTINV · MID-SEMESTER REVIEW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0878800" y="158750"/>
              <a:ext cx="10668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13 / 13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DAHXQujkCb4</dc:identifier>
  <dcterms:modified xsi:type="dcterms:W3CDTF">2011-08-01T06:04:30Z</dcterms:modified>
  <cp:revision>1</cp:revision>
  <dc:title>SmartInv Project Review</dc:title>
</cp:coreProperties>
</file>