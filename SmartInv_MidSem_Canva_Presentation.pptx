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Mono Bold" charset="1" panose="020B0809050203000203"/>
      <p:regular r:id="rId18"/>
    </p:embeddedFont>
    <p:embeddedFont>
      <p:font typeface="Akzidenz-Grotesk Bold" charset="1" panose="02000803050000020004"/>
      <p:regular r:id="rId19"/>
    </p:embeddedFont>
    <p:embeddedFont>
      <p:font typeface="IBM Plex Sans" charset="1" panose="020B0503050203000203"/>
      <p:regular r:id="rId20"/>
    </p:embeddedFont>
    <p:embeddedFont>
      <p:font typeface="IBM Plex Sans Bold" charset="1" panose="020B0803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858250" y="0"/>
            <a:ext cx="3143250" cy="10287000"/>
            <a:chOff x="0" y="0"/>
            <a:chExt cx="4191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1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525">
                    <a:alpha val="100000"/>
                  </a:srgbClr>
                </a:gs>
                <a:gs pos="100000">
                  <a:srgbClr val="071525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91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0600" y="117157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IEEE S&amp;P 2024  /  COLUMBIA UNIVERSITY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057400"/>
            <a:ext cx="8572500" cy="154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99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SmartInv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3524250"/>
            <a:ext cx="8572500" cy="128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Multimodal Invariant Inference</a:t>
            </a:r>
          </a:p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for Smart Contracts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5848350"/>
            <a:ext cx="7239000" cy="35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9FB3C8"/>
                </a:solidFill>
                <a:latin typeface="IBM Plex Sans"/>
                <a:ea typeface="IBM Plex Sans"/>
                <a:cs typeface="IBM Plex Sans"/>
                <a:sym typeface="IBM Plex Sans"/>
              </a:rPr>
              <a:t>Mid-Semester Project Evaluation on an A* Research Paper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799147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65E6A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Rishi  •  2024ucp1566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01 / 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2095500"/>
            <a:ext cx="7391400" cy="6477000"/>
          </a:xfrm>
          <a:custGeom>
            <a:avLst/>
            <a:gdLst/>
            <a:ahLst/>
            <a:cxnLst/>
            <a:rect r="r" b="b" t="t" l="l"/>
            <a:pathLst>
              <a:path h="6477000" w="7391400">
                <a:moveTo>
                  <a:pt x="0" y="0"/>
                </a:moveTo>
                <a:lnTo>
                  <a:pt x="7391400" y="0"/>
                </a:lnTo>
                <a:lnTo>
                  <a:pt x="7391400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" t="0" r="-73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90600" y="75247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WHY SECURITY MATTERS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1419225"/>
            <a:ext cx="8191500" cy="163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5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Code becomes</a:t>
            </a:r>
          </a:p>
          <a:p>
            <a:pPr algn="l">
              <a:lnSpc>
                <a:spcPts val="5994"/>
              </a:lnSpc>
            </a:pPr>
            <a:r>
              <a:rPr lang="en-US" sz="55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irreversible value.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600" y="4057650"/>
            <a:ext cx="752475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9FB3C8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Smart contracts execute financial rules without human intervention. In DeFi, a small logic mistake can instantly move millions—and immutable deployment makes recovery exceptionally difficult.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6791325"/>
            <a:ext cx="752475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One flaw. One transaction. Permanent loss.</a:t>
            </a:r>
          </a:p>
        </p:txBody>
      </p:sp>
      <p:sp>
        <p:nvSpPr>
          <p:cNvPr name="AutoShape 7" id="7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02 / 12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3048000"/>
            <a:ext cx="7772400" cy="4095750"/>
            <a:chOff x="0" y="0"/>
            <a:chExt cx="10363200" cy="546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632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102A4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632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0" y="3048000"/>
            <a:ext cx="7772400" cy="4095750"/>
            <a:chOff x="0" y="0"/>
            <a:chExt cx="10363200" cy="546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632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102A4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632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0600" y="6762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GAP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12573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Not all bugs break syntax.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6850" y="3400425"/>
            <a:ext cx="628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65E6A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IMPLEMENTATION BUGS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4650" y="3400425"/>
            <a:ext cx="628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FF667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FUNCTIONAL BUGS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6850" y="4133850"/>
            <a:ext cx="62865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Known low-level patterns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reentrancy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overflow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unsafe calls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34650" y="4133850"/>
            <a:ext cx="62865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code runs—but violates intent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wrong authorization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broken economic assumptions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missing business constraints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7500" y="7839075"/>
            <a:ext cx="12573000" cy="37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</a:pPr>
            <a:r>
              <a:rPr lang="en-US" sz="2325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Traditional analyzers see how code fails. SmartInv asks what must always remain true.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03 / 12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7429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CASE STUDY  /  VISOR FINANCE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476375"/>
            <a:ext cx="6858000" cy="1769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0"/>
              </a:lnSpc>
            </a:pPr>
            <a:r>
              <a:rPr lang="en-US" sz="11550" b="true">
                <a:solidFill>
                  <a:srgbClr val="FF667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$8.2M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3076575"/>
            <a:ext cx="7239000" cy="47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925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lost through a subtle authorization flaw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20250" y="1800225"/>
            <a:ext cx="9525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63250" y="1885950"/>
            <a:ext cx="5905500" cy="35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Attacker calls a legitimate function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20250" y="3705225"/>
            <a:ext cx="9525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63250" y="3790950"/>
            <a:ext cx="5905500" cy="71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 logic accepts an invalid relationship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20250" y="5800725"/>
            <a:ext cx="9525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FF667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63250" y="5886450"/>
            <a:ext cx="5905500" cy="71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Funds move; existing tools report no known pattern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6638925"/>
            <a:ext cx="74295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625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Syntactically valid. Semantically catastrophic.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04 / 12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CORE CONCEPT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285875"/>
            <a:ext cx="10668000" cy="151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An invariant is a promise</a:t>
            </a:r>
          </a:p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that must always hold.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24000" y="3905250"/>
            <a:ext cx="15240000" cy="1714500"/>
            <a:chOff x="0" y="0"/>
            <a:chExt cx="203200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2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02A44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320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81250" y="4410075"/>
            <a:ext cx="13525500" cy="73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4650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∀ state transitions  T :  P(s) ⇒ P(T(s))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2750" y="6143625"/>
            <a:ext cx="12382500" cy="83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Example: only an authorized owner may withdraw funds—before and after every transaction.</a:t>
            </a:r>
          </a:p>
        </p:txBody>
      </p:sp>
      <p:sp>
        <p:nvSpPr>
          <p:cNvPr name="AutoShape 9" id="9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05 / 12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762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/  THREE INNOVATIONS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276350"/>
            <a:ext cx="133350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AI intuition × formal proof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3590925"/>
            <a:ext cx="1714500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750" y="4829175"/>
            <a:ext cx="4095750" cy="79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Multimodal</a:t>
            </a:r>
          </a:p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program understanding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05650" y="3590925"/>
            <a:ext cx="1714500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65E6A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05650" y="4829175"/>
            <a:ext cx="4095750" cy="79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Tier of Thought</a:t>
            </a:r>
          </a:p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reasoning pipeline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82550" y="3590925"/>
            <a:ext cx="1714500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397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82550" y="4829175"/>
            <a:ext cx="4095750" cy="79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Formal verification</a:t>
            </a:r>
          </a:p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of every candidate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6500" y="7686675"/>
            <a:ext cx="13335000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Generate broadly. Reason deliberately. Accept only what can be proven.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06 / 12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095750"/>
            <a:ext cx="2247900" cy="1428750"/>
            <a:chOff x="0" y="0"/>
            <a:chExt cx="2997200" cy="190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7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97200">
                  <a:moveTo>
                    <a:pt x="86102" y="0"/>
                  </a:moveTo>
                  <a:lnTo>
                    <a:pt x="2911098" y="0"/>
                  </a:lnTo>
                  <a:cubicBezTo>
                    <a:pt x="2958651" y="0"/>
                    <a:pt x="2997200" y="38549"/>
                    <a:pt x="2997200" y="86102"/>
                  </a:cubicBezTo>
                  <a:lnTo>
                    <a:pt x="2997200" y="1818898"/>
                  </a:lnTo>
                  <a:cubicBezTo>
                    <a:pt x="2997200" y="1866451"/>
                    <a:pt x="2958651" y="1905000"/>
                    <a:pt x="2911098" y="1905000"/>
                  </a:cubicBezTo>
                  <a:lnTo>
                    <a:pt x="86102" y="1905000"/>
                  </a:lnTo>
                  <a:cubicBezTo>
                    <a:pt x="38549" y="1905000"/>
                    <a:pt x="0" y="1866451"/>
                    <a:pt x="0" y="1818898"/>
                  </a:cubicBezTo>
                  <a:lnTo>
                    <a:pt x="0" y="86102"/>
                  </a:lnTo>
                  <a:cubicBezTo>
                    <a:pt x="0" y="38549"/>
                    <a:pt x="38549" y="0"/>
                    <a:pt x="86102" y="0"/>
                  </a:cubicBezTo>
                  <a:close/>
                </a:path>
              </a:pathLst>
            </a:custGeom>
            <a:solidFill>
              <a:srgbClr val="102A4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972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  Parse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code + context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3276600" y="4810125"/>
            <a:ext cx="381000" cy="0"/>
          </a:xfrm>
          <a:prstGeom prst="line">
            <a:avLst/>
          </a:prstGeom>
          <a:ln cap="rnd" w="38100">
            <a:solidFill>
              <a:srgbClr val="32D6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733800" y="4095750"/>
            <a:ext cx="2247900" cy="1428750"/>
            <a:chOff x="0" y="0"/>
            <a:chExt cx="29972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97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97200">
                  <a:moveTo>
                    <a:pt x="86102" y="0"/>
                  </a:moveTo>
                  <a:lnTo>
                    <a:pt x="2911098" y="0"/>
                  </a:lnTo>
                  <a:cubicBezTo>
                    <a:pt x="2958651" y="0"/>
                    <a:pt x="2997200" y="38549"/>
                    <a:pt x="2997200" y="86102"/>
                  </a:cubicBezTo>
                  <a:lnTo>
                    <a:pt x="2997200" y="1818898"/>
                  </a:lnTo>
                  <a:cubicBezTo>
                    <a:pt x="2997200" y="1866451"/>
                    <a:pt x="2958651" y="1905000"/>
                    <a:pt x="2911098" y="1905000"/>
                  </a:cubicBezTo>
                  <a:lnTo>
                    <a:pt x="86102" y="1905000"/>
                  </a:lnTo>
                  <a:cubicBezTo>
                    <a:pt x="38549" y="1905000"/>
                    <a:pt x="0" y="1866451"/>
                    <a:pt x="0" y="1818898"/>
                  </a:cubicBezTo>
                  <a:lnTo>
                    <a:pt x="0" y="86102"/>
                  </a:lnTo>
                  <a:cubicBezTo>
                    <a:pt x="0" y="38549"/>
                    <a:pt x="38549" y="0"/>
                    <a:pt x="86102" y="0"/>
                  </a:cubicBezTo>
                  <a:close/>
                </a:path>
              </a:pathLst>
            </a:custGeom>
            <a:solidFill>
              <a:srgbClr val="102A44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29972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  Identify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critical state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6019800" y="4810125"/>
            <a:ext cx="381000" cy="0"/>
          </a:xfrm>
          <a:prstGeom prst="line">
            <a:avLst/>
          </a:prstGeom>
          <a:ln cap="rnd" w="38100">
            <a:solidFill>
              <a:srgbClr val="32D6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477000" y="4095750"/>
            <a:ext cx="2247900" cy="1428750"/>
            <a:chOff x="0" y="0"/>
            <a:chExt cx="29972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97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97200">
                  <a:moveTo>
                    <a:pt x="86102" y="0"/>
                  </a:moveTo>
                  <a:lnTo>
                    <a:pt x="2911098" y="0"/>
                  </a:lnTo>
                  <a:cubicBezTo>
                    <a:pt x="2958651" y="0"/>
                    <a:pt x="2997200" y="38549"/>
                    <a:pt x="2997200" y="86102"/>
                  </a:cubicBezTo>
                  <a:lnTo>
                    <a:pt x="2997200" y="1818898"/>
                  </a:lnTo>
                  <a:cubicBezTo>
                    <a:pt x="2997200" y="1866451"/>
                    <a:pt x="2958651" y="1905000"/>
                    <a:pt x="2911098" y="1905000"/>
                  </a:cubicBezTo>
                  <a:lnTo>
                    <a:pt x="86102" y="1905000"/>
                  </a:lnTo>
                  <a:cubicBezTo>
                    <a:pt x="38549" y="1905000"/>
                    <a:pt x="0" y="1866451"/>
                    <a:pt x="0" y="1818898"/>
                  </a:cubicBezTo>
                  <a:lnTo>
                    <a:pt x="0" y="86102"/>
                  </a:lnTo>
                  <a:cubicBezTo>
                    <a:pt x="0" y="38549"/>
                    <a:pt x="38549" y="0"/>
                    <a:pt x="86102" y="0"/>
                  </a:cubicBezTo>
                  <a:close/>
                </a:path>
              </a:pathLst>
            </a:custGeom>
            <a:solidFill>
              <a:srgbClr val="102A44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9972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  Propose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invariants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763000" y="4810125"/>
            <a:ext cx="381000" cy="0"/>
          </a:xfrm>
          <a:prstGeom prst="line">
            <a:avLst/>
          </a:prstGeom>
          <a:ln cap="rnd" w="38100">
            <a:solidFill>
              <a:srgbClr val="32D6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9220200" y="4095750"/>
            <a:ext cx="2247900" cy="1428750"/>
            <a:chOff x="0" y="0"/>
            <a:chExt cx="29972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97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97200">
                  <a:moveTo>
                    <a:pt x="86102" y="0"/>
                  </a:moveTo>
                  <a:lnTo>
                    <a:pt x="2911098" y="0"/>
                  </a:lnTo>
                  <a:cubicBezTo>
                    <a:pt x="2958651" y="0"/>
                    <a:pt x="2997200" y="38549"/>
                    <a:pt x="2997200" y="86102"/>
                  </a:cubicBezTo>
                  <a:lnTo>
                    <a:pt x="2997200" y="1818898"/>
                  </a:lnTo>
                  <a:cubicBezTo>
                    <a:pt x="2997200" y="1866451"/>
                    <a:pt x="2958651" y="1905000"/>
                    <a:pt x="2911098" y="1905000"/>
                  </a:cubicBezTo>
                  <a:lnTo>
                    <a:pt x="86102" y="1905000"/>
                  </a:lnTo>
                  <a:cubicBezTo>
                    <a:pt x="38549" y="1905000"/>
                    <a:pt x="0" y="1866451"/>
                    <a:pt x="0" y="1818898"/>
                  </a:cubicBezTo>
                  <a:lnTo>
                    <a:pt x="0" y="86102"/>
                  </a:lnTo>
                  <a:cubicBezTo>
                    <a:pt x="0" y="38549"/>
                    <a:pt x="38549" y="0"/>
                    <a:pt x="86102" y="0"/>
                  </a:cubicBezTo>
                  <a:close/>
                </a:path>
              </a:pathLst>
            </a:custGeom>
            <a:solidFill>
              <a:srgbClr val="102A44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29972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  Critique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candidates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1506200" y="4810125"/>
            <a:ext cx="381000" cy="0"/>
          </a:xfrm>
          <a:prstGeom prst="line">
            <a:avLst/>
          </a:prstGeom>
          <a:ln cap="rnd" w="38100">
            <a:solidFill>
              <a:srgbClr val="32D6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1963400" y="4095750"/>
            <a:ext cx="2247900" cy="1428750"/>
            <a:chOff x="0" y="0"/>
            <a:chExt cx="29972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97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97200">
                  <a:moveTo>
                    <a:pt x="86102" y="0"/>
                  </a:moveTo>
                  <a:lnTo>
                    <a:pt x="2911098" y="0"/>
                  </a:lnTo>
                  <a:cubicBezTo>
                    <a:pt x="2958651" y="0"/>
                    <a:pt x="2997200" y="38549"/>
                    <a:pt x="2997200" y="86102"/>
                  </a:cubicBezTo>
                  <a:lnTo>
                    <a:pt x="2997200" y="1818898"/>
                  </a:lnTo>
                  <a:cubicBezTo>
                    <a:pt x="2997200" y="1866451"/>
                    <a:pt x="2958651" y="1905000"/>
                    <a:pt x="2911098" y="1905000"/>
                  </a:cubicBezTo>
                  <a:lnTo>
                    <a:pt x="86102" y="1905000"/>
                  </a:lnTo>
                  <a:cubicBezTo>
                    <a:pt x="38549" y="1905000"/>
                    <a:pt x="0" y="1866451"/>
                    <a:pt x="0" y="1818898"/>
                  </a:cubicBezTo>
                  <a:lnTo>
                    <a:pt x="0" y="86102"/>
                  </a:lnTo>
                  <a:cubicBezTo>
                    <a:pt x="0" y="38549"/>
                    <a:pt x="38549" y="0"/>
                    <a:pt x="86102" y="0"/>
                  </a:cubicBezTo>
                  <a:close/>
                </a:path>
              </a:pathLst>
            </a:custGeom>
            <a:solidFill>
              <a:srgbClr val="39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9972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  Verify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formally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4249400" y="4810125"/>
            <a:ext cx="381000" cy="0"/>
          </a:xfrm>
          <a:prstGeom prst="line">
            <a:avLst/>
          </a:prstGeom>
          <a:ln cap="rnd" w="38100">
            <a:solidFill>
              <a:srgbClr val="32D6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4706600" y="4095750"/>
            <a:ext cx="2247900" cy="1428750"/>
            <a:chOff x="0" y="0"/>
            <a:chExt cx="2997200" cy="190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97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97200">
                  <a:moveTo>
                    <a:pt x="86102" y="0"/>
                  </a:moveTo>
                  <a:lnTo>
                    <a:pt x="2911098" y="0"/>
                  </a:lnTo>
                  <a:cubicBezTo>
                    <a:pt x="2958651" y="0"/>
                    <a:pt x="2997200" y="38549"/>
                    <a:pt x="2997200" y="86102"/>
                  </a:cubicBezTo>
                  <a:lnTo>
                    <a:pt x="2997200" y="1818898"/>
                  </a:lnTo>
                  <a:cubicBezTo>
                    <a:pt x="2997200" y="1866451"/>
                    <a:pt x="2958651" y="1905000"/>
                    <a:pt x="2911098" y="1905000"/>
                  </a:cubicBezTo>
                  <a:lnTo>
                    <a:pt x="86102" y="1905000"/>
                  </a:lnTo>
                  <a:cubicBezTo>
                    <a:pt x="38549" y="1905000"/>
                    <a:pt x="0" y="1866451"/>
                    <a:pt x="0" y="1818898"/>
                  </a:cubicBezTo>
                  <a:lnTo>
                    <a:pt x="0" y="86102"/>
                  </a:lnTo>
                  <a:cubicBezTo>
                    <a:pt x="0" y="38549"/>
                    <a:pt x="38549" y="0"/>
                    <a:pt x="86102" y="0"/>
                  </a:cubicBezTo>
                  <a:close/>
                </a:path>
              </a:pathLst>
            </a:custGeom>
            <a:solidFill>
              <a:srgbClr val="102A44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9972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6  Rank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4F8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results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90600" y="657225"/>
            <a:ext cx="762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TIER OF THOUGHT  /  SIX STEPS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600" y="1276350"/>
            <a:ext cx="12382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Reason first. Verify last.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0600" y="6534150"/>
            <a:ext cx="14287500" cy="71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SmartInv decomposes auditing into expert-like stages, using critique and formal checks to suppress plausible—but false—LLM outputs.</a:t>
            </a:r>
          </a:p>
        </p:txBody>
      </p:sp>
      <p:sp>
        <p:nvSpPr>
          <p:cNvPr name="AutoShape 28" id="28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07 / 12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EXPERIMENTAL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590675"/>
            <a:ext cx="6191250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80,000+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2752725"/>
            <a:ext cx="6191250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real Ethereum smart contracts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600" y="4438650"/>
            <a:ext cx="59055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9FB3C8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Evaluation spans large-scale deployed code, curated vulnerability benchmarks, and comparisons with prior invariant-generation methods.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01860" y="1803834"/>
            <a:ext cx="10161280" cy="7536584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90600" y="7791450"/>
            <a:ext cx="5905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Chart values shown as a concise benchmark summary.</a:t>
            </a:r>
          </a:p>
        </p:txBody>
      </p:sp>
      <p:sp>
        <p:nvSpPr>
          <p:cNvPr name="AutoShape 8" id="8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08 / 12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91750" y="0"/>
            <a:ext cx="8096250" cy="9525000"/>
          </a:xfrm>
          <a:custGeom>
            <a:avLst/>
            <a:gdLst/>
            <a:ahLst/>
            <a:cxnLst/>
            <a:rect r="r" b="b" t="t" l="l"/>
            <a:pathLst>
              <a:path h="9525000" w="8096250">
                <a:moveTo>
                  <a:pt x="0" y="0"/>
                </a:moveTo>
                <a:lnTo>
                  <a:pt x="8096250" y="0"/>
                </a:lnTo>
                <a:lnTo>
                  <a:pt x="8096250" y="9525000"/>
                </a:lnTo>
                <a:lnTo>
                  <a:pt x="0" y="9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" r="0" b="-73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90600" y="82867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REAL-WORLD DISCOVERY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1914525"/>
            <a:ext cx="723900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0"/>
              </a:lnSpc>
            </a:pPr>
            <a:r>
              <a:rPr lang="en-US" sz="14250" b="true">
                <a:solidFill>
                  <a:srgbClr val="65E6A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119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600" y="3962400"/>
            <a:ext cx="7810500" cy="1164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9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previously unknown</a:t>
            </a:r>
          </a:p>
          <a:p>
            <a:pPr algn="l">
              <a:lnSpc>
                <a:spcPts val="4212"/>
              </a:lnSpc>
            </a:pPr>
            <a:r>
              <a:rPr lang="en-US" sz="39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mainnet vulnerabilities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6153150"/>
            <a:ext cx="7239000" cy="10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findings move SmartInv beyond benchmark accuracy: the system uncovered exploitable logic flaws already deployed in the wild.</a:t>
            </a:r>
          </a:p>
        </p:txBody>
      </p:sp>
      <p:sp>
        <p:nvSpPr>
          <p:cNvPr name="AutoShape 7" id="7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09 / 12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ABLATION STUDY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27635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Remove a tier. Lose reliability.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8530" y="1286580"/>
            <a:ext cx="18050940" cy="838059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143250" y="8420100"/>
            <a:ext cx="12001500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250">
                <a:solidFill>
                  <a:srgbClr val="32D6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Tiered critique and formal verification are complementary—not decorative.</a:t>
            </a:r>
          </a:p>
        </p:txBody>
      </p:sp>
      <p:sp>
        <p:nvSpPr>
          <p:cNvPr name="AutoShape 6" id="6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10 / 12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LOCAL IMPLEMENTATION  /  MID-SEM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27635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From paper to working pipeline.</a:t>
            </a:r>
          </a:p>
        </p:txBody>
      </p:sp>
      <p:sp>
        <p:nvSpPr>
          <p:cNvPr name="AutoShape 4" id="4"/>
          <p:cNvSpPr/>
          <p:nvPr/>
        </p:nvSpPr>
        <p:spPr>
          <a:xfrm>
            <a:off x="990600" y="3238500"/>
            <a:ext cx="15773400" cy="0"/>
          </a:xfrm>
          <a:prstGeom prst="line">
            <a:avLst/>
          </a:prstGeom>
          <a:ln cap="rnd" w="476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90600" y="3105150"/>
            <a:ext cx="266700" cy="266700"/>
            <a:chOff x="0" y="0"/>
            <a:chExt cx="355600" cy="355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32D6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90600" y="3705225"/>
            <a:ext cx="95250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4600575"/>
            <a:ext cx="3333750" cy="40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5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Environment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5353050"/>
            <a:ext cx="3333750" cy="61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9FB3C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Dependencies, compiler, model access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143500" y="3105150"/>
            <a:ext cx="266700" cy="266700"/>
            <a:chOff x="0" y="0"/>
            <a:chExt cx="355600" cy="355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32D6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143500" y="3705225"/>
            <a:ext cx="95250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43500" y="4600575"/>
            <a:ext cx="3333750" cy="40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5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Reproduction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43500" y="5353050"/>
            <a:ext cx="3333750" cy="61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9FB3C8"/>
                </a:solidFill>
                <a:latin typeface="IBM Plex Sans"/>
                <a:ea typeface="IBM Plex Sans"/>
                <a:cs typeface="IBM Plex Sans"/>
                <a:sym typeface="IBM Plex Sans"/>
              </a:rPr>
              <a:t>Paper pipeline and sample contracts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96400" y="3105150"/>
            <a:ext cx="266700" cy="266700"/>
            <a:chOff x="0" y="0"/>
            <a:chExt cx="355600" cy="355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32D6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296400" y="3705225"/>
            <a:ext cx="95250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6400" y="4600575"/>
            <a:ext cx="3333750" cy="40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5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Debugging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96400" y="5353050"/>
            <a:ext cx="333375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9FB3C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Prompt, parser, verifier failures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49300" y="3105150"/>
            <a:ext cx="266700" cy="266700"/>
            <a:chOff x="0" y="0"/>
            <a:chExt cx="355600" cy="355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65E6A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449300" y="3705225"/>
            <a:ext cx="95250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49300" y="4600575"/>
            <a:ext cx="3333750" cy="40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55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Validation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49300" y="5353050"/>
            <a:ext cx="3333750" cy="61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9FB3C8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Local checks and milestone evidence</a:t>
            </a:r>
          </a:p>
        </p:txBody>
      </p:sp>
      <p:sp>
        <p:nvSpPr>
          <p:cNvPr name="AutoShape 25" id="25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11 / 12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763750" cy="159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SmartInv turns AI guesses</a:t>
            </a:r>
          </a:p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F4F8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into verifiable security claims.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250" y="4733925"/>
            <a:ext cx="4095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2D6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UNDERSTAND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9250" y="5295900"/>
            <a:ext cx="4095750" cy="69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Multimodal context captures developer intent.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6125" y="4733925"/>
            <a:ext cx="4095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65E6A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REASON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96125" y="5295900"/>
            <a:ext cx="4095750" cy="69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Tier of Thought reduces hallucination through critique.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3000" y="4733925"/>
            <a:ext cx="4095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97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73000" y="5295900"/>
            <a:ext cx="4095750" cy="69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>
                <a:solidFill>
                  <a:srgbClr val="F4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Formal verification filters candidates into guarantees.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95500" y="7686675"/>
            <a:ext cx="140970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625" b="true">
                <a:solidFill>
                  <a:srgbClr val="32D6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Practical impact: 119 zero-day bugs—and a credible path toward safer immutable code.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90600" y="9563100"/>
            <a:ext cx="16306800" cy="0"/>
          </a:xfrm>
          <a:prstGeom prst="line">
            <a:avLst/>
          </a:prstGeom>
          <a:ln cap="flat" w="9525">
            <a:solidFill>
              <a:srgbClr val="2441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90600" y="9734550"/>
            <a:ext cx="163068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9FB3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 •  MID-SEMESTER EVALUATION                                    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DAHXQbcLdB8</dc:identifier>
  <dcterms:modified xsi:type="dcterms:W3CDTF">2011-08-01T06:04:30Z</dcterms:modified>
  <cp:revision>1</cp:revision>
  <dc:title>SmartInv Research Evaluation</dc:title>
</cp:coreProperties>
</file>