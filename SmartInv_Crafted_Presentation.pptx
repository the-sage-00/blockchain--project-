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43000"/>
            <a:ext cx="4114800" cy="34747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🌟 A* RESEARCH PAPER PRESENTATION | MID-SEM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SmartInv: Multimodal Smart Contract Invariant Inference</a:t>
            </a:r>
          </a:p>
          <a:p>
            <a:pPr>
              <a:defRPr sz="1700">
                <a:solidFill>
                  <a:srgbClr val="94A3B8"/>
                </a:solidFill>
              </a:defRPr>
            </a:pPr>
            <a:r>
              <a:t>Automated Security Verification for Blockchain Applications using LLMs &amp; Formal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886200"/>
            <a:ext cx="98142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4160520"/>
            <a:ext cx="466344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👤 PRESENTER PROFILE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Student Name: Rishi</a:t>
            </a:r>
            <a:br/>
            <a:r>
              <a:t>• Student ID: 2024ucp1566</a:t>
            </a:r>
            <a:br/>
            <a:r>
              <a:t>• Evaluation: Mid-Semester Project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60520"/>
            <a:ext cx="4785055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🏛️ RESEARCH PAPER CITATION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Authors: Sally Junsong Wang, Kexin Pei, Junfeng Yang</a:t>
            </a:r>
            <a:br/>
            <a:r>
              <a:t>• Institution: Columbia University, New York, USA</a:t>
            </a:r>
            <a:br/>
            <a:r>
              <a:t>• Venue: IEEE Symposium on Security &amp; Privacy (S&amp;P) 2024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3774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01. INTRODUCTION &amp; 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Smart Contracts: High Stakes, Zero Room for Error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20040"/>
            <a:ext cx="731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34134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4892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90472"/>
            <a:ext cx="30019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The Vending Machine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WHAT IS A SMART CONTRACT?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2971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✔ Automated Code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Programs deployed on Ethereum that execute agreements automatically without banks or middlemen.</a:t>
            </a:r>
            <a:br/>
          </a:p>
          <a:p>
            <a:pPr>
              <a:defRPr sz="1250" b="1">
                <a:solidFill>
                  <a:srgbClr val="1E3A8A"/>
                </a:solidFill>
              </a:defRPr>
            </a:pPr>
            <a:r>
              <a:t>✔ Real Analogy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Like a physical vending machine: insert tokens, select item, code executes rules permanently.</a:t>
            </a:r>
            <a:br/>
          </a:p>
          <a:p>
            <a:pPr>
              <a:defRPr sz="1250" b="1">
                <a:solidFill>
                  <a:srgbClr val="1E3A8A"/>
                </a:solidFill>
              </a:defRPr>
            </a:pPr>
            <a:r>
              <a:t>✔ DeFi Scale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Manages digital lending, decentralized exchanges, and billions in liquidity pools.</a:t>
            </a:r>
            <a:br/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34134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109728" cy="4892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490472"/>
            <a:ext cx="30019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The Immutability Trap</a:t>
            </a:r>
          </a:p>
          <a:p>
            <a:pPr>
              <a:defRPr sz="950" b="1">
                <a:solidFill>
                  <a:srgbClr val="EF4444"/>
                </a:solidFill>
              </a:defRPr>
            </a:pPr>
            <a:r>
              <a:t>THE DANGER OF BLOCKCHAIN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011680"/>
            <a:ext cx="2971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EF4444"/>
                </a:solidFill>
              </a:defRPr>
            </a:pPr>
            <a:r>
              <a:t>⚠️ No Patching Allowed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Once code is committed to Ethereum, it CANNOT be rewritten or edited like normal apps.</a:t>
            </a:r>
            <a:br/>
          </a:p>
          <a:p>
            <a:pPr>
              <a:defRPr sz="1250" b="1">
                <a:solidFill>
                  <a:srgbClr val="EF4444"/>
                </a:solidFill>
              </a:defRPr>
            </a:pPr>
            <a:r>
              <a:t>⚠️ Open Season for Hackers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Contracts are public 24/7. Any tiny flaw can be instantly drained by anonymous exploiters.</a:t>
            </a:r>
            <a:br/>
          </a:p>
          <a:p>
            <a:pPr>
              <a:defRPr sz="1250" b="1">
                <a:solidFill>
                  <a:srgbClr val="EF4444"/>
                </a:solidFill>
              </a:defRPr>
            </a:pPr>
            <a:r>
              <a:t>⚠️ No Reversibility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There is no customer support to reverse a stolen $50M blockchain transaction.</a:t>
            </a:r>
            <a:br/>
          </a:p>
        </p:txBody>
      </p:sp>
      <p:sp>
        <p:nvSpPr>
          <p:cNvPr id="17" name="Rounded Rectangle 16"/>
          <p:cNvSpPr/>
          <p:nvPr/>
        </p:nvSpPr>
        <p:spPr>
          <a:xfrm>
            <a:off x="8046720" y="1325880"/>
            <a:ext cx="34134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325880"/>
            <a:ext cx="109728" cy="4892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490472"/>
            <a:ext cx="30019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Multi-Billion Losses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WHY THIS RESEARCH EXISTS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011680"/>
            <a:ext cx="2971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F59E0B"/>
                </a:solidFill>
              </a:defRPr>
            </a:pPr>
            <a:r>
              <a:t>💡 $3.8B+ Stolen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Over $3.8 Billion lost in smart contract hacks in the last three years alone.</a:t>
            </a:r>
            <a:br/>
          </a:p>
          <a:p>
            <a:pPr>
              <a:defRPr sz="1250" b="1">
                <a:solidFill>
                  <a:srgbClr val="F59E0B"/>
                </a:solidFill>
              </a:defRPr>
            </a:pPr>
            <a:r>
              <a:t>💡 Expensive Audits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Human security firms charge $50K–$500K per audit, but human auditors still miss subtle logic bugs.</a:t>
            </a:r>
            <a:br/>
          </a:p>
          <a:p>
            <a:pPr>
              <a:defRPr sz="1250" b="1">
                <a:solidFill>
                  <a:srgbClr val="F59E0B"/>
                </a:solidFill>
              </a:defRPr>
            </a:pPr>
            <a:r>
              <a:t>💡 The Project Mission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SmartInv builds an automated AI auditor that catches these complex bugs before deployment.</a:t>
            </a:r>
            <a:br/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3774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02.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The Big Discovery: Two Fundamentally Different Bug 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20040"/>
            <a:ext cx="731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4892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90472"/>
            <a:ext cx="47091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Class A: Implementation Bugs (The Easy Ones)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SOLVED BY EXISTING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✔ What Are They?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Syntax mistakes, reentrancy loops, and arithmetic overflows (e.g. 255 + 1 = 0).</a:t>
            </a:r>
            <a:br/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✔ Why They Are Easy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They follow obvious pre-programmed patterns that automated linters can flag immediately.</a:t>
            </a:r>
            <a:br/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✔ Tool Status: SOLVED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Tools like Slither, Mythril, and Securify can detect 95%+ of these coding errors.</a:t>
            </a:r>
            <a:br/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✔ Analogy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Like a spell-checker catching a typo ('teh' -&gt; 'the'). Easy for machines to detect.</a:t>
            </a:r>
            <a:br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109728" cy="4892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490472"/>
            <a:ext cx="47091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Class B: Functional Bugs (Machine Un-auditable)</a:t>
            </a:r>
          </a:p>
          <a:p>
            <a:pPr>
              <a:defRPr sz="950" b="1">
                <a:solidFill>
                  <a:srgbClr val="EF4444"/>
                </a:solidFill>
              </a:defRPr>
            </a:pPr>
            <a:r>
              <a:t>THE MULTI-MILLION DOLLAR THREAT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EF4444"/>
                </a:solidFill>
              </a:defRPr>
            </a:pPr>
            <a:r>
              <a:t>❌ What Are They?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Flawed business logic. Code compiles and runs perfectly, but violates what the creator intended!</a:t>
            </a:r>
            <a:br/>
          </a:p>
          <a:p>
            <a:pPr>
              <a:defRPr sz="1250" b="1">
                <a:solidFill>
                  <a:srgbClr val="EF4444"/>
                </a:solidFill>
              </a:defRPr>
            </a:pPr>
            <a:r>
              <a:t>❌ Why They Are Deadly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No syntax error exists. The contract happily sends $8M to a hacker because rules were poorly specified.</a:t>
            </a:r>
            <a:br/>
          </a:p>
          <a:p>
            <a:pPr>
              <a:defRPr sz="1250" b="1">
                <a:solidFill>
                  <a:srgbClr val="EF4444"/>
                </a:solidFill>
              </a:defRPr>
            </a:pPr>
            <a:r>
              <a:t>❌ Tool Status: 0% DETECTED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Traditional tools report '0 BUGS (SAFE)' because they do NOT understand developer intent.</a:t>
            </a:r>
            <a:br/>
          </a:p>
          <a:p>
            <a:pPr>
              <a:defRPr sz="1250" b="1">
                <a:solidFill>
                  <a:srgbClr val="EF4444"/>
                </a:solidFill>
              </a:defRPr>
            </a:pPr>
            <a:r>
              <a:t>❌ Analogy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Like an essay with zero spelling mistakes, but arguing that 2+2=5. Spell-checkers can't catch logical meaning!</a:t>
            </a:r>
            <a:br/>
          </a:p>
        </p:txBody>
      </p:sp>
    </p:spTree>
  </p:cSld>
  <p:clrMapOvr>
    <a:masterClrMapping/>
  </p:clrMapOvr>
  <p:transition spd="med">
    <p:push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3774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03. REAL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The $8.2 Million Visor Finance Hack (Dec 2021)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20040"/>
            <a:ext cx="731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6692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4892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90472"/>
            <a:ext cx="5257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What Actually Happened at Visor?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THE VULNERABILITY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5212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• Step 1: The Function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Visor had a deposit function: `deposit(uint amount, address token)` designed to mint vault shares.</a:t>
            </a:r>
            <a:br/>
          </a:p>
          <a:p>
            <a:pPr>
              <a:defRPr sz="1250" b="1">
                <a:solidFill>
                  <a:srgbClr val="1E3A8A"/>
                </a:solidFill>
              </a:defRPr>
            </a:pPr>
            <a:r>
              <a:t>• Step 2: The Innocent-Looking Line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The code called `supervisor.approve(token, amount)` to authorize token movement.</a:t>
            </a:r>
            <a:br/>
          </a:p>
          <a:p>
            <a:pPr>
              <a:defRPr sz="1250" b="1">
                <a:solidFill>
                  <a:srgbClr val="1E3A8A"/>
                </a:solidFill>
              </a:defRPr>
            </a:pPr>
            <a:r>
              <a:t>• Step 3: The Fatal Oversight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The contract forgot to check IF `supervisor` was the genuine supervisor contract!</a:t>
            </a:r>
            <a:br/>
          </a:p>
          <a:p>
            <a:pPr>
              <a:defRPr sz="1250" b="1">
                <a:solidFill>
                  <a:srgbClr val="1E3A8A"/>
                </a:solidFill>
              </a:defRPr>
            </a:pPr>
            <a:r>
              <a:t>• Step 4: The Exploit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A hacker passed their own attacker contract as the supervisor address and drained $8.2M in 1 block.</a:t>
            </a:r>
            <a:br/>
          </a:p>
        </p:txBody>
      </p:sp>
      <p:sp>
        <p:nvSpPr>
          <p:cNvPr id="13" name="Rounded Rectangle 12"/>
          <p:cNvSpPr/>
          <p:nvPr/>
        </p:nvSpPr>
        <p:spPr>
          <a:xfrm>
            <a:off x="6675120" y="1325880"/>
            <a:ext cx="47850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0" y="1325880"/>
            <a:ext cx="109728" cy="4892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31152" y="1490472"/>
            <a:ext cx="43735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Tool Performance on Visor</a:t>
            </a:r>
          </a:p>
          <a:p>
            <a:pPr>
              <a:defRPr sz="950" b="1">
                <a:solidFill>
                  <a:srgbClr val="EF4444"/>
                </a:solidFill>
              </a:defRPr>
            </a:pPr>
            <a:r>
              <a:t>WHY EXISTING TOOLS FAILED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1168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Slither (Static Linter):</a:t>
            </a:r>
          </a:p>
          <a:p>
            <a:pPr>
              <a:defRPr sz="1150" b="1">
                <a:solidFill>
                  <a:srgbClr val="64748B"/>
                </a:solidFill>
              </a:defRPr>
            </a:pPr>
            <a:r>
              <a:t>❌ 0 Bugs Reported (Passed as Safe)</a:t>
            </a:r>
            <a:br/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Mythril (Symbolic Prover):</a:t>
            </a:r>
          </a:p>
          <a:p>
            <a:pPr>
              <a:defRPr sz="1150" b="1">
                <a:solidFill>
                  <a:srgbClr val="64748B"/>
                </a:solidFill>
              </a:defRPr>
            </a:pPr>
            <a:r>
              <a:t>❌ 0 Bugs Reported (Passed as Safe)</a:t>
            </a:r>
            <a:br/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Manticore (Dynamic Engine):</a:t>
            </a:r>
          </a:p>
          <a:p>
            <a:pPr>
              <a:defRPr sz="1150" b="1">
                <a:solidFill>
                  <a:srgbClr val="64748B"/>
                </a:solidFill>
              </a:defRPr>
            </a:pPr>
            <a:r>
              <a:t>❌ 0 Bugs Reported (Passed as Safe)</a:t>
            </a:r>
            <a:br/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VeriSmart (Formal Verifier):</a:t>
            </a:r>
          </a:p>
          <a:p>
            <a:pPr>
              <a:defRPr sz="1150" b="1">
                <a:solidFill>
                  <a:srgbClr val="64748B"/>
                </a:solidFill>
              </a:defRPr>
            </a:pPr>
            <a:r>
              <a:t>❌ 0 Bugs Reported (Passed as Safe)</a:t>
            </a:r>
            <a:br/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SmartInv (Columbia Paper):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✅ DETECTED INVARIANT VIOLATION &amp; PREVENTED THE HACK!</a:t>
            </a:r>
            <a:br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3774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04. LITERATURE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Why Existing Approaches Hit a Brick Wall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20040"/>
            <a:ext cx="731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23317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90472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Static Linters (e.g. Slither)</a:t>
            </a:r>
          </a:p>
          <a:p>
            <a:pPr>
              <a:defRPr sz="950" b="1">
                <a:solidFill>
                  <a:srgbClr val="4F46E5"/>
                </a:solidFill>
              </a:defRPr>
            </a:pPr>
            <a:r>
              <a:t>PATTERN-MATCHING TRAP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• Scans source code for hardcoded bad patterns.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Blind to business logic: if a function compiles cleanly, it assumes it is completely safe.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High false alarm rate on novel contract designs.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109728" cy="23317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490472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Symbolic Provers (e.g. Mythril)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PATH EXPLOSION BOTTLENECK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• Tries to mathematically explore every possible execution path.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Smart contracts with loops and external calls cause exponential branch explosion.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Takes hours per contract and often times 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109728" cy="2331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005072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Arithmetic Verifiers (e.g. VeriSmart)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NARROW DOMAIN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805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• Only checks basic mathematical inequalities (e.g. x + y &lt;= MAX_UINT).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Completely ignores access controls, role permissions, and token balances.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Cannot infer high-level business invariants.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3840480"/>
            <a:ext cx="109728" cy="2331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005072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What Was Missing in the Industry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INTENT &amp; SEMANTIC AWARENESS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805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• None of these tools understand natural language specs or developer documentation.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They analyze code without understanding the high-level business goal.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SmartInv bridges this gap with Multimodal AI.</a:t>
            </a:r>
          </a:p>
        </p:txBody>
      </p:sp>
    </p:spTree>
  </p:cSld>
  <p:clrMapOvr>
    <a:masterClrMapping/>
  </p:clrMapOvr>
  <p:transition spd="med">
    <p:push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3774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05. 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What is an Invariant? (The Golden Rule of Security)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20040"/>
            <a:ext cx="731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28655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13258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90472"/>
            <a:ext cx="103171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💡 Invariant Defined in 1 Plain English Sentence</a:t>
            </a:r>
          </a:p>
          <a:p>
            <a:pPr>
              <a:defRPr sz="950" b="1">
                <a:solidFill>
                  <a:srgbClr val="4F46E5"/>
                </a:solidFill>
              </a:defRPr>
            </a:pPr>
            <a:r>
              <a:t>THE MATHEMATICAL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874519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"An Invariant is a golden safety rule that must ALWAYS remain TRUE throughout the entire contract lifecycle, no matter what crazy actions a user or hacker takes."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3413455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109728" cy="3383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999232"/>
            <a:ext cx="30019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Bank Balance Rule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CONCRETE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29000"/>
            <a:ext cx="297180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t>Mathematical Invariant: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assert(balance_after &gt;= balance_before);</a:t>
            </a:r>
            <a:br/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Simple Meaning: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Whenever a user deposits money, their balance must increase or stay equal. If a deposit ever reduces your balance -&gt; BUG FOUND!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834640"/>
            <a:ext cx="3413455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2834640"/>
            <a:ext cx="109728" cy="33832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2999232"/>
            <a:ext cx="30019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Total Token Supply Rule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CONCRETE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429000"/>
            <a:ext cx="297180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t>Mathematical Invariant:</a:t>
            </a:r>
          </a:p>
          <a:p>
            <a:pPr>
              <a:defRPr sz="1100" b="1">
                <a:solidFill>
                  <a:srgbClr val="0EA5E9"/>
                </a:solidFill>
              </a:defRPr>
            </a:pPr>
            <a:r>
              <a:t>assert(totalSupply == sum(userBalances));</a:t>
            </a:r>
            <a:br/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Simple Meaning: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Total tokens in existence must exactly match the sum of all individual wallets. If tokens appear out of nowhere -&gt; MONEY PRINTING HACK!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834640"/>
            <a:ext cx="3413455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2834640"/>
            <a:ext cx="109728" cy="33832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999232"/>
            <a:ext cx="30019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Admin Authorization Rule</a:t>
            </a:r>
          </a:p>
          <a:p>
            <a:pPr>
              <a:defRPr sz="950" b="1">
                <a:solidFill>
                  <a:srgbClr val="EF4444"/>
                </a:solidFill>
              </a:defRPr>
            </a:pPr>
            <a:r>
              <a:t>CONCRETE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429000"/>
            <a:ext cx="297180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64748B"/>
                </a:solidFill>
              </a:defRPr>
            </a:pPr>
            <a:r>
              <a:t>Mathematical Invariant: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assert(msg.sender == owner);</a:t>
            </a:r>
            <a:br/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Simple Meaning: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Only the verified creator of the contract can withdraw the vault reserve. If a random user can trigger a withdrawal -&gt; PRIVILEGE ESCALATION BUG!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3774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06.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SmartInv: Combining AI Intuition with Mathematical Rigor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20040"/>
            <a:ext cx="731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4892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90472"/>
            <a:ext cx="47091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Pillar 1: Deep Learning Intuition</a:t>
            </a:r>
          </a:p>
          <a:p>
            <a:pPr>
              <a:defRPr sz="950" b="1">
                <a:solidFill>
                  <a:srgbClr val="4F46E5"/>
                </a:solidFill>
              </a:defRPr>
            </a:pPr>
            <a:r>
              <a:t>MULTIMODAL LARGE LANGUAGE MODEL (LLAMA)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4F46E5"/>
                </a:solidFill>
              </a:defRPr>
            </a:pPr>
            <a:r>
              <a:t>🧠 The AI Role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Acts like an experienced human security auditor reading the contract.</a:t>
            </a:r>
            <a:br/>
          </a:p>
          <a:p>
            <a:pPr>
              <a:defRPr sz="1250" b="1">
                <a:solidFill>
                  <a:srgbClr val="4F46E5"/>
                </a:solidFill>
              </a:defRPr>
            </a:pPr>
            <a:r>
              <a:t>🧠 Multimodal Understanding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Reads Solidity code AND English comments/docstrings to understand what the contract is trying to achieve.</a:t>
            </a:r>
            <a:br/>
          </a:p>
          <a:p>
            <a:pPr>
              <a:defRPr sz="1250" b="1">
                <a:solidFill>
                  <a:srgbClr val="4F46E5"/>
                </a:solidFill>
              </a:defRPr>
            </a:pPr>
            <a:r>
              <a:t>🧠 Specialized Training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Fine-tuned on thousands of invariant samples using PEFT / LoRA adapter weights.</a:t>
            </a:r>
            <a:br/>
          </a:p>
          <a:p>
            <a:pPr>
              <a:defRPr sz="1250" b="1">
                <a:solidFill>
                  <a:srgbClr val="4F46E5"/>
                </a:solidFill>
              </a:defRPr>
            </a:pPr>
            <a:r>
              <a:t>🧠 Output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Infers candidates for bug-critical invariants at specific line numbers.</a:t>
            </a:r>
            <a:br/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12064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109728" cy="4892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490472"/>
            <a:ext cx="470915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Pillar 2: Mathematical Formal Methods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BOUNDED MODEL CHECKER (VERISOL / CORRAL)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⚖️ The Verifier Role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Acts like a strict mathematician proving or disproving the AI's suggestions.</a:t>
            </a:r>
            <a:br/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⚖️ Boogie Translation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Translates Solidity code + candidate invariants into Boogie intermediate representation.</a:t>
            </a:r>
            <a:br/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⚖️ Corral Engine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Exhaustively checks if an execution path can violate the invariant.</a:t>
            </a:r>
            <a:br/>
          </a:p>
          <a:p>
            <a:pPr>
              <a:defRPr sz="1250" b="1">
                <a:solidFill>
                  <a:srgbClr val="10B981"/>
                </a:solidFill>
              </a:defRPr>
            </a:pPr>
            <a:r>
              <a:t>⚖️ Output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Either proves the invariant holds OR generates an exact step-by-step counterexample exploit trace.</a:t>
            </a:r>
            <a:br/>
          </a:p>
        </p:txBody>
      </p:sp>
    </p:spTree>
  </p:cSld>
  <p:clrMapOvr>
    <a:masterClrMapping/>
  </p:clrMapOvr>
  <p:transition spd="med">
    <p:push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3774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07. KEY INNOVATION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Multimodal Learning: Seeing the Complete Picture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20040"/>
            <a:ext cx="731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36576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90472"/>
            <a:ext cx="30019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Solidity Code</a:t>
            </a:r>
          </a:p>
          <a:p>
            <a:pPr>
              <a:defRPr sz="950" b="1">
                <a:solidFill>
                  <a:srgbClr val="4F46E5"/>
                </a:solidFill>
              </a:defRPr>
            </a:pPr>
            <a:r>
              <a:t>THE TECHNICAL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20240"/>
            <a:ext cx="29718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• Mapping structures, variable states, and function declarations.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Captures the exact mechanical execution flow.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Tells the AI HOW the contract runs.</a:t>
            </a:r>
            <a:br/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109728" cy="3657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490472"/>
            <a:ext cx="30019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Natural Language Specs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THE HUMAN INTENTION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920240"/>
            <a:ext cx="29718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• NatSpec comments, developer documentation, and naming conventions.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Captures the intended business logic rules.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Tells the AI WHAT the contract is supposed to do.</a:t>
            </a:r>
            <a:br/>
          </a:p>
        </p:txBody>
      </p:sp>
      <p:sp>
        <p:nvSpPr>
          <p:cNvPr id="17" name="Rounded Rectangle 16"/>
          <p:cNvSpPr/>
          <p:nvPr/>
        </p:nvSpPr>
        <p:spPr>
          <a:xfrm>
            <a:off x="8046720" y="1325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325880"/>
            <a:ext cx="109728" cy="3657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490472"/>
            <a:ext cx="30019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Transaction History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THE REAL-WORLD BEHAVIOR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920240"/>
            <a:ext cx="29718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• Historical Ethereum execution traces and state transitions.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Captures active on-chain usage patterns.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Tells the AI HOW USERS actually interact with the code.</a:t>
            </a:r>
            <a:br/>
          </a:p>
        </p:txBody>
      </p:sp>
      <p:sp>
        <p:nvSpPr>
          <p:cNvPr id="21" name="Rounded Rectangle 20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5166360"/>
            <a:ext cx="109728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330952"/>
            <a:ext cx="103171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🏥 The Medical Analogy (Why Multimodal Wins)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REAL-WORLD INTUITION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77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A great doctor doesn't just look at an X-ray (Code). They look at blood tests (Traces) and listen to the patient describe their symptoms (Natural Language). Combining all 3 sources gives the true diagnosis!</a:t>
            </a:r>
          </a:p>
        </p:txBody>
      </p:sp>
    </p:spTree>
  </p:cSld>
  <p:clrMapOvr>
    <a:masterClrMapping/>
  </p:clrMapOvr>
  <p:transition spd="med">
    <p:push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3774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08. KEY INNOVATION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Tier of Thought (ToT): 6-Step Cognitive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20040"/>
            <a:ext cx="731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42255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14813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90472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Tier 1A: Transaction Context</a:t>
            </a:r>
          </a:p>
          <a:p>
            <a:pPr>
              <a:defRPr sz="950" b="1">
                <a:solidFill>
                  <a:srgbClr val="4F46E5"/>
                </a:solidFill>
              </a:defRPr>
            </a:pPr>
            <a:r>
              <a:t>COGNITIVE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20240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Identifies what business domain this contract belongs to (e.g. cross-function lending, swaps, arithmetics).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42255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109728" cy="14813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490472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Tier 1B: Critical Program Points</a:t>
            </a:r>
          </a:p>
          <a:p>
            <a:pPr>
              <a:defRPr sz="950" b="1">
                <a:solidFill>
                  <a:srgbClr val="4F46E5"/>
                </a:solidFill>
              </a:defRPr>
            </a:pPr>
            <a:r>
              <a:t>COGNITIVE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Pinpoints the exact security-sensitive lines of code (e.g. Line 8: supervisor approval, Line 15: token minting).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53512"/>
            <a:ext cx="5242255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2953512"/>
            <a:ext cx="109728" cy="14813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118104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Tier 2A: Invariant Generation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COGNITIVE 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547872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Synthesizes mathematical assert statements that must hold at those critical program points.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53512"/>
            <a:ext cx="5242255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2953512"/>
            <a:ext cx="109728" cy="14813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118104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Tier 2B: Critical Invariant Filter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COGNITIVE STAGE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547872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Removes trivial tautologies (like x == x) to keep only bug-critical safety rules.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81144"/>
            <a:ext cx="5242255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4581144"/>
            <a:ext cx="109728" cy="14813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745736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Tier 3A: Invariant Priority Ranking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COGNITIVE 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175504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Sorts invariants by risk priority so auditors immediately inspect high-threat vulnerabilities.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581144"/>
            <a:ext cx="5242255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0" y="4581144"/>
            <a:ext cx="109728" cy="148132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4745736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Tier 3B: Vulnerability Classification</a:t>
            </a:r>
          </a:p>
          <a:p>
            <a:pPr>
              <a:defRPr sz="950" b="1">
                <a:solidFill>
                  <a:srgbClr val="EF4444"/>
                </a:solidFill>
              </a:defRPr>
            </a:pPr>
            <a:r>
              <a:t>COGNITIVE 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175504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</a:defRPr>
            </a:pPr>
            <a:r>
              <a:t>Outputs final security status: Healthy OR Identifies the exact bug category (e.g. Privilege Escalation).</a:t>
            </a:r>
          </a:p>
        </p:txBody>
      </p:sp>
    </p:spTree>
  </p:cSld>
  <p:clrMapOvr>
    <a:masterClrMapping/>
  </p:clrMapOvr>
  <p:transition spd="med">
    <p:wipe dir="d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3774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09. LIVE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How SmartInv Analyzes a Real Contract Step-by-Step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20040"/>
            <a:ext cx="731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4754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4892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90472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Input Solidity Contract</a:t>
            </a:r>
          </a:p>
          <a:p>
            <a:pPr>
              <a:defRPr sz="950" b="1">
                <a:solidFill>
                  <a:srgbClr val="4F46E5"/>
                </a:solidFill>
              </a:defRPr>
            </a:pPr>
            <a:r>
              <a:t>CODE UNDER AUDIT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965960"/>
            <a:ext cx="4297680" cy="4023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100">
                <a:solidFill>
                  <a:srgbClr val="E0F2FE"/>
                </a:solidFill>
                <a:latin typeface="Consolas"/>
              </a:defRPr>
            </a:pPr>
            <a:r>
              <a:t>1  pragma solidity &gt;=0.5.0;</a:t>
            </a:r>
            <a:br/>
            <a:r>
              <a:t>2  contract Vault {</a:t>
            </a:r>
            <a:br/>
            <a:r>
              <a:t>3    mapping(address =&gt; uint) public bal;</a:t>
            </a:r>
            <a:br/>
            <a:r>
              <a:t>4    address public supervisor;</a:t>
            </a:r>
            <a:br/>
            <a:r>
              <a:t>5</a:t>
            </a:r>
            <a:br/>
            <a:r>
              <a:t>6    function deposit(uint amount) external {</a:t>
            </a:r>
            <a:br/>
            <a:r>
              <a:t>7      // [Vulnerable Point]</a:t>
            </a:r>
            <a:br/>
            <a:r>
              <a:t>8      supervisor.approve(msg.sender, amount);</a:t>
            </a:r>
            <a:br/>
            <a:r>
              <a:t>9      bal[msg.sender] += amount;</a:t>
            </a:r>
            <a:br/>
            <a:r>
              <a:t>10   }</a:t>
            </a:r>
            <a:br/>
            <a:r>
              <a:t>11 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325880"/>
            <a:ext cx="56994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60720" y="1325880"/>
            <a:ext cx="109728" cy="4892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490472"/>
            <a:ext cx="52879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SmartInv ToT Reasoning Flow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LIVE INFERENCE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65960"/>
            <a:ext cx="5212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• Tier 1A Context: </a:t>
            </a:r>
          </a:p>
          <a:p>
            <a:pPr>
              <a:defRPr sz="1150" b="0">
                <a:solidFill>
                  <a:srgbClr val="334155"/>
                </a:solidFill>
              </a:defRPr>
            </a:pPr>
            <a:r>
              <a:t>  Cross-function Vault token approval logic.</a:t>
            </a:r>
            <a:br/>
          </a:p>
          <a:p>
            <a:pPr>
              <a:defRPr sz="1200" b="1">
                <a:solidFill>
                  <a:srgbClr val="1E3A8A"/>
                </a:solidFill>
              </a:defRPr>
            </a:pPr>
            <a:r>
              <a:t>• Tier 1B Critical Line: </a:t>
            </a:r>
          </a:p>
          <a:p>
            <a:pPr>
              <a:defRPr sz="1150" b="0">
                <a:solidFill>
                  <a:srgbClr val="334155"/>
                </a:solidFill>
              </a:defRPr>
            </a:pPr>
            <a:r>
              <a:t>  Line 8 (Supervisor approval without address validation).</a:t>
            </a:r>
            <a:br/>
          </a:p>
          <a:p>
            <a:pPr>
              <a:defRPr sz="1200" b="1">
                <a:solidFill>
                  <a:srgbClr val="1E3A8A"/>
                </a:solidFill>
              </a:defRPr>
            </a:pPr>
            <a:r>
              <a:t>• Tier 2A/2B Invariant: </a:t>
            </a:r>
          </a:p>
          <a:p>
            <a:pPr>
              <a:defRPr sz="1150" b="0">
                <a:solidFill>
                  <a:srgbClr val="334155"/>
                </a:solidFill>
              </a:defRPr>
            </a:pPr>
            <a:r>
              <a:t>  8+ assert(supervisor == trustedVaultSupervisor);</a:t>
            </a:r>
            <a:br/>
          </a:p>
          <a:p>
            <a:pPr>
              <a:defRPr sz="1200" b="1">
                <a:solidFill>
                  <a:srgbClr val="1E3A8A"/>
                </a:solidFill>
              </a:defRPr>
            </a:pPr>
            <a:r>
              <a:t>• Tier 3A Ranking: </a:t>
            </a:r>
          </a:p>
          <a:p>
            <a:pPr>
              <a:defRPr sz="1150" b="0">
                <a:solidFill>
                  <a:srgbClr val="334155"/>
                </a:solidFill>
              </a:defRPr>
            </a:pPr>
            <a:r>
              <a:t>  Rank 1: Highest security priority.</a:t>
            </a:r>
            <a:br/>
          </a:p>
          <a:p>
            <a:pPr>
              <a:defRPr sz="1200" b="1">
                <a:solidFill>
                  <a:srgbClr val="1E3A8A"/>
                </a:solidFill>
              </a:defRPr>
            </a:pPr>
            <a:r>
              <a:t>• Tier 3B Bug Inference: </a:t>
            </a:r>
          </a:p>
          <a:p>
            <a:pPr>
              <a:defRPr sz="1150" b="0">
                <a:solidFill>
                  <a:srgbClr val="334155"/>
                </a:solidFill>
              </a:defRPr>
            </a:pPr>
            <a:r>
              <a:t>  Classification: 'Unauthorized Privilege Escalation'.</a:t>
            </a:r>
            <a:br/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Formal Verifier: </a:t>
            </a:r>
          </a:p>
          <a:p>
            <a:pPr>
              <a:defRPr sz="1150" b="1">
                <a:solidFill>
                  <a:srgbClr val="EF4444"/>
                </a:solidFill>
              </a:defRPr>
            </a:pPr>
            <a:r>
              <a:t>  ❌ Invariant VIOLATED: Attacker can supply rogue supervisor address!</a:t>
            </a:r>
            <a:br/>
          </a:p>
        </p:txBody>
      </p:sp>
    </p:spTree>
  </p:cSld>
  <p:clrMapOvr>
    <a:masterClrMapping/>
  </p:clrMapOvr>
  <p:transition spd="med">
    <p:push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3774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10. KEY INNOVATION 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Formal Verification: The Mathematical Proof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20040"/>
            <a:ext cx="731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36576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90472"/>
            <a:ext cx="30019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Stage 1: Instrumentation</a:t>
            </a:r>
          </a:p>
          <a:p>
            <a:pPr>
              <a:defRPr sz="950" b="1">
                <a:solidFill>
                  <a:srgbClr val="4F46E5"/>
                </a:solidFill>
              </a:defRPr>
            </a:pPr>
            <a:r>
              <a:t>SOLIDITY + INVARIANTS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20240"/>
            <a:ext cx="29718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• Candidate invariants from the AI are inserted directly into the source code as formal assertions.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Cleaned and prepared for compilation.</a:t>
            </a:r>
            <a:br/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109728" cy="3657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490472"/>
            <a:ext cx="30019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Stage 2: VeriSol Translation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BOOGIE INTERMEDIATE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920240"/>
            <a:ext cx="29718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• Microsoft's VeriSol compiler translates Ethereum EVM bytecode and Solidity logic into Boogie formal syntax.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Eliminates compiler ambiguities.</a:t>
            </a:r>
            <a:br/>
          </a:p>
        </p:txBody>
      </p:sp>
      <p:sp>
        <p:nvSpPr>
          <p:cNvPr id="17" name="Rounded Rectangle 16"/>
          <p:cNvSpPr/>
          <p:nvPr/>
        </p:nvSpPr>
        <p:spPr>
          <a:xfrm>
            <a:off x="8046720" y="1325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325880"/>
            <a:ext cx="109728" cy="3657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490472"/>
            <a:ext cx="30019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Stage 3: Corral Model Checker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BOUNDED PROOF &amp; EXPLOIT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920240"/>
            <a:ext cx="29718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• Corral checks if ANY transaction sequence up to bounded depth can violate the assertion.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If violated -&gt; Generates a step-by-step counterexample trace showing exactly how to exploit the bug!</a:t>
            </a:r>
            <a:br/>
          </a:p>
        </p:txBody>
      </p:sp>
      <p:sp>
        <p:nvSpPr>
          <p:cNvPr id="21" name="Rounded Rectangle 20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5166360"/>
            <a:ext cx="109728" cy="10515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330952"/>
            <a:ext cx="103171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🎯 What is a Counterexample Trace?</a:t>
            </a:r>
          </a:p>
          <a:p>
            <a:pPr>
              <a:defRPr sz="950" b="1">
                <a:solidFill>
                  <a:srgbClr val="EF4444"/>
                </a:solidFill>
              </a:defRPr>
            </a:pPr>
            <a:r>
              <a:t>ZERO HALLUCINATION GUARANTEE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77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A counterexample trace is definitive mathematical proof: 'If user calls deposit(100) -&gt; then calls execute() -&gt; invariant fails at Line 8.' This eliminates false alarms!</a:t>
            </a:r>
          </a:p>
        </p:txBody>
      </p:sp>
    </p:spTree>
  </p:cSld>
  <p:clrMapOvr>
    <a:masterClrMapping/>
  </p:clrMapOvr>
  <p:transition spd="med">
    <p:push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3774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11. 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Large-Scale Evaluation on 80,000+ Smart Contracts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20040"/>
            <a:ext cx="731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3413455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17373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1732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</a:defRPr>
            </a:pPr>
            <a:r>
              <a:t>3.5×</a:t>
            </a:r>
          </a:p>
          <a:p>
            <a:pPr>
              <a:defRPr sz="1200" b="1">
                <a:solidFill>
                  <a:srgbClr val="1E3A8A"/>
                </a:solidFill>
              </a:defRPr>
            </a:pPr>
            <a:r>
              <a:t>More Bug Invariants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Discovered 3.5× more security-critical invariants than baseline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25880"/>
            <a:ext cx="3413455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109728" cy="1737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1732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4.0×</a:t>
            </a:r>
          </a:p>
          <a:p>
            <a:pPr>
              <a:defRPr sz="1200" b="1">
                <a:solidFill>
                  <a:srgbClr val="1E3A8A"/>
                </a:solidFill>
              </a:defRPr>
            </a:pPr>
            <a:r>
              <a:t>More Critical Bugs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Detected 4× more high-risk functional vulnerabilities than state of the 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413455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109728" cy="1737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1732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EA5E9"/>
                </a:solidFill>
              </a:defRPr>
            </a:pPr>
            <a:r>
              <a:t>150×</a:t>
            </a:r>
          </a:p>
          <a:p>
            <a:pPr>
              <a:defRPr sz="1200" b="1">
                <a:solidFill>
                  <a:srgbClr val="1E3A8A"/>
                </a:solidFill>
              </a:defRPr>
            </a:pPr>
            <a:r>
              <a:t>Faster Execution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Inference runs in seconds compared to hours for symbolic execution.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46120"/>
            <a:ext cx="10728655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246120"/>
            <a:ext cx="109728" cy="29718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410712"/>
            <a:ext cx="103171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Comprehensive Tool Comparison (1,200+ Audited Ground Truth Benchmark)</a:t>
            </a:r>
          </a:p>
          <a:p>
            <a:pPr>
              <a:defRPr sz="950" b="1">
                <a:solidFill>
                  <a:srgbClr val="1E3A8A"/>
                </a:solidFill>
              </a:defRPr>
            </a:pPr>
            <a:r>
              <a:t>PERFORMANCE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60"/>
            <a:ext cx="102412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 b="0">
                <a:solidFill>
                  <a:srgbClr val="334155"/>
                </a:solidFill>
              </a:defRPr>
            </a:pPr>
            <a:r>
              <a:t>• Slither        | Tech: Static Linter            | Speed: Fast (Seconds)     | Verdict: Misses all functional logic bugs</a:t>
            </a:r>
          </a:p>
          <a:p>
            <a:pPr>
              <a:defRPr sz="1150" b="0">
                <a:solidFill>
                  <a:srgbClr val="334155"/>
                </a:solidFill>
              </a:defRPr>
            </a:pPr>
            <a:r>
              <a:t>• Mythril        | Tech: Symbolic Execution       | Speed: Slow (Hours)       | Verdict: Path explosion bottleneck</a:t>
            </a:r>
          </a:p>
          <a:p>
            <a:pPr>
              <a:defRPr sz="1150" b="0">
                <a:solidFill>
                  <a:srgbClr val="334155"/>
                </a:solidFill>
              </a:defRPr>
            </a:pPr>
            <a:r>
              <a:t>• Manticore      | Tech: Dynamic Analysis         | Speed: Very Slow (Hours)  | Verdict: Cannot scale to large contracts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• SmartInv       | Tech: Multimodal AI + Verifier | Speed: Fast (Seconds)     | Verdict: Detects &amp; Proves Functional Bugs ⭐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3774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12. REAL-WORLD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119 Zero-Day Vulnerabilities Discovered on Ethereum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20040"/>
            <a:ext cx="731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23317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90472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119 Zero-Day Vulnerabilities</a:t>
            </a:r>
          </a:p>
          <a:p>
            <a:pPr>
              <a:defRPr sz="950" b="1">
                <a:solidFill>
                  <a:srgbClr val="EF4444"/>
                </a:solidFill>
              </a:defRPr>
            </a:pPr>
            <a:r>
              <a:t>PREVIOUSLY UNKNOWN BUGS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• Discovered in live, actively deployed Ethereum smart contracts.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Zero previous reports existed anywhere in the security community.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All 119 bugs were 100% missed by Slither, Mythril, and Manticore.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109728" cy="2331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490472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5 High-Severity Confirmed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DEVELOPER VALIDATIONS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• 5 vulnerabilities officially confirmed as High-Severity by project core developers.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Responsible disclosure prevented multimillion-dollar exploitations.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Demonstrates practical real-world industry value.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109728" cy="23317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005072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Business Logic Inconsistencies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VAULT &amp; STAKING FLAWS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805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• Discovered flawed reward accrual algorithms in staking pools.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Fixed share-dilution loopholes where early depositors were cheated.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Prevented price-oracle arbitrage exploits.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3840480"/>
            <a:ext cx="109728" cy="2331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005072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Privilege Escalations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ACCESS CONTROL BYPASSES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805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• Found contracts where unauthorized external callers could trigger administrative functions.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Identified uninitialized state variables in proxy contracts.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Secured cross-bridge token transfers.</a:t>
            </a:r>
          </a:p>
        </p:txBody>
      </p:sp>
    </p:spTree>
  </p:cSld>
  <p:clrMapOvr>
    <a:masterClrMapping/>
  </p:clrMapOvr>
  <p:transition spd="med">
    <p:push dir="r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3774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13. SCIENTIFIC RIGOR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Ablation Study: Proving Tier of Thought is the Hero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20040"/>
            <a:ext cx="731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4754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4892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90472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What is an Ablation Study?</a:t>
            </a:r>
          </a:p>
          <a:p>
            <a:pPr>
              <a:defRPr sz="950" b="1">
                <a:solidFill>
                  <a:srgbClr val="4F46E5"/>
                </a:solidFill>
              </a:defRPr>
            </a:pPr>
            <a:r>
              <a:t>ISOLATING WHAT REALLY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• The Scientific Test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Researchers systematically removed one component at a time to measure exactly how much accuracy drops.</a:t>
            </a:r>
            <a:br/>
          </a:p>
          <a:p>
            <a:pPr>
              <a:defRPr sz="1200" b="1">
                <a:solidFill>
                  <a:srgbClr val="1E3A8A"/>
                </a:solidFill>
              </a:defRPr>
            </a:pPr>
            <a:r>
              <a:t>• Key Finding #1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Removing Tier of Thought causes a catastrophic 66% drop in F1-score!</a:t>
            </a:r>
            <a:br/>
          </a:p>
          <a:p>
            <a:pPr>
              <a:defRPr sz="1200" b="1">
                <a:solidFill>
                  <a:srgbClr val="1E3A8A"/>
                </a:solidFill>
              </a:defRPr>
            </a:pPr>
            <a:r>
              <a:t>• Key Finding #2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Removing Natural Language causes a 37% drop (and functional bug detection drops 40×).</a:t>
            </a:r>
            <a:br/>
          </a:p>
          <a:p>
            <a:pPr>
              <a:defRPr sz="1200" b="1">
                <a:solidFill>
                  <a:srgbClr val="1E3A8A"/>
                </a:solidFill>
              </a:defRPr>
            </a:pPr>
            <a:r>
              <a:t>• The Conclusion</a:t>
            </a:r>
            <a:br/>
          </a:p>
          <a:p>
            <a:pPr>
              <a:defRPr sz="1150">
                <a:solidFill>
                  <a:srgbClr val="334155"/>
                </a:solidFill>
              </a:defRPr>
            </a:pPr>
            <a:r>
              <a:t>Tier of Thought structured reasoning is the single most vital innovation of the paper.</a:t>
            </a:r>
            <a:br/>
          </a:p>
        </p:txBody>
      </p:sp>
      <p:sp>
        <p:nvSpPr>
          <p:cNvPr id="13" name="Rounded Rectangle 12"/>
          <p:cNvSpPr/>
          <p:nvPr/>
        </p:nvSpPr>
        <p:spPr>
          <a:xfrm>
            <a:off x="5760720" y="1325880"/>
            <a:ext cx="56994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60720" y="1325880"/>
            <a:ext cx="109728" cy="4892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1490472"/>
            <a:ext cx="52879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Ablation Experiment Data (Table 9 &amp; 11)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MEASURED ACCURACY &amp;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011680"/>
            <a:ext cx="52120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200" b="1">
                <a:solidFill>
                  <a:srgbClr val="10B981"/>
                </a:solidFill>
              </a:defRPr>
            </a:pPr>
            <a:r>
              <a:t>• Full SmartInv (All Features)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  Accuracy: 0.89 | F1-Score: 0.82 (Optimal Baseline ⭐)</a:t>
            </a:r>
            <a:br/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• Remove Optimization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  Accuracy: 0.89 | F1-Score: 0.82 (Minimal difference)</a:t>
            </a:r>
            <a:br/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• Remove Labeled Features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  Accuracy: 0.59 | F1-Score: 0.60 (-22% F1 Decrease)</a:t>
            </a:r>
            <a:br/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Remove Natural Language (NL)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  Accuracy: 0.62 | F1-Score: 0.45 (-37% F1 Drop 📉)</a:t>
            </a:r>
            <a:br/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Remove Tier of Thought (ToT)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  Accuracy: 0.24 | F1-Score: 0.16 (-66% F1 Collapse 📉📉)</a:t>
            </a:r>
            <a:br/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Raw Base LLM (No Fine-tuning)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  Accuracy: 0.12 | F1-Score: 0.14 (Complete Failure)</a:t>
            </a:r>
            <a:br/>
          </a:p>
        </p:txBody>
      </p:sp>
    </p:spTree>
  </p:cSld>
  <p:clrMapOvr>
    <a:masterClrMapping/>
  </p:clrMapOvr>
  <p:transition spd="med">
    <p:push dir="r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37744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14. MID-SEM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Practical Work Executed on Local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0" y="320040"/>
            <a:ext cx="731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23317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490472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Environment &amp; Setup</a:t>
            </a:r>
          </a:p>
          <a:p>
            <a:pPr>
              <a:defRPr sz="950" b="1">
                <a:solidFill>
                  <a:srgbClr val="4F46E5"/>
                </a:solidFill>
              </a:defRPr>
            </a:pPr>
            <a:r>
              <a:t>DEPENDENCY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✔ Cloned full research repository and configured local Python environment.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✔ Integrated PyTorch 2.8, HuggingFace Transformers, PEFT, and OpenAI SDK.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✔ Created clean workspace structure with Git version control.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109728" cy="23317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490472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Bug Fixing &amp; Compatibility</a:t>
            </a:r>
          </a:p>
          <a:p>
            <a:pPr>
              <a:defRPr sz="950" b="1">
                <a:solidFill>
                  <a:srgbClr val="0EA5E9"/>
                </a:solidFill>
              </a:defRPr>
            </a:pPr>
            <a:r>
              <a:t>WINDOWS PORTING &amp; FIXES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✔ Fixed Windows file encoding bug (UnicodeEncodeError for pi symbols) in dataset generator.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✔ Replaced hardcoded Linux author paths (/home/sally...) with dynamic relative paths.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✔ Patched OpenAI client initialization crash to support offline and help modes.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109728" cy="2331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005072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Dataset Processing</a:t>
            </a:r>
          </a:p>
          <a:p>
            <a:pPr>
              <a:defRPr sz="950" b="1">
                <a:solidFill>
                  <a:srgbClr val="10B981"/>
                </a:solidFill>
              </a:defRPr>
            </a:pPr>
            <a:r>
              <a:t>TOT TRAINING DATA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805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✔ Executed generator.py — generated all 3,000+ ToT structured prompt-completion pairs.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✔ Validated smartinv.py CLI argument parser (Exit Code 0).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✔ Tested verification routines on sample benchmark contracts.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404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3840480"/>
            <a:ext cx="109728" cy="2331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005072"/>
            <a:ext cx="483077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Comprehensive Guides &amp; Git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DEFENSE PREP &amp; REPOSITORY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80560"/>
            <a:ext cx="475488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>
                <a:solidFill>
                  <a:srgbClr val="334155"/>
                </a:solidFill>
              </a:defRPr>
            </a:pPr>
            <a:r>
              <a:t>✔ Authored 5 extensive study guide documents in dedicated study_guide/ folder.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✔ Set up dual remotes (origin -&gt; User GitHub, upstream -&gt; Columbia).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✔ Pushed all code fixes, datasets, and presentation decks to GitHub.</a:t>
            </a:r>
          </a:p>
        </p:txBody>
      </p:sp>
    </p:spTree>
  </p:cSld>
  <p:clrMapOvr>
    <a:masterClrMapping/>
  </p:clrMapOvr>
  <p:transition spd="med">
    <p:push dir="r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822960"/>
            <a:ext cx="9997135" cy="5212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9265615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🎯 PROJECT SUMMARY &amp; KEY TAKEAWAYS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SmartInv: AI Intuition Meets Mathematical Proof</a:t>
            </a:r>
          </a:p>
          <a:p>
            <a:pPr algn="ctr">
              <a:defRPr sz="1300">
                <a:solidFill>
                  <a:srgbClr val="E2E8F0"/>
                </a:solidFill>
              </a:defRPr>
            </a:pPr>
            <a:br/>
            <a:r>
              <a:t>✔ First automated security tool to solve 'Machine Un-auditable' functional bugs.</a:t>
            </a:r>
          </a:p>
          <a:p>
            <a:pPr algn="ctr">
              <a:defRPr sz="1300">
                <a:solidFill>
                  <a:srgbClr val="E2E8F0"/>
                </a:solidFill>
              </a:defRPr>
            </a:pPr>
            <a:br/>
            <a:r>
              <a:t>✔ Tier of Thought (ToT) is the core breakthrough — boosting F1-score by 66%.</a:t>
            </a:r>
          </a:p>
          <a:p>
            <a:pPr algn="ctr">
              <a:defRPr sz="1300">
                <a:solidFill>
                  <a:srgbClr val="E2E8F0"/>
                </a:solidFill>
              </a:defRPr>
            </a:pPr>
            <a:br/>
            <a:r>
              <a:t>✔ Discovered 119 live zero-day vulnerabilities in production Ethereum contracts.</a:t>
            </a:r>
          </a:p>
          <a:p>
            <a:pPr algn="ctr">
              <a:defRPr sz="1300">
                <a:solidFill>
                  <a:srgbClr val="E2E8F0"/>
                </a:solidFill>
              </a:defRPr>
            </a:pPr>
            <a:br/>
            <a:r>
              <a:t>✔ Fully implemented, debugged, and verified on local machine with full study repository.</a:t>
            </a:r>
          </a:p>
          <a:p>
            <a:pPr algn="ctr">
              <a:defRPr sz="1600" b="1">
                <a:solidFill>
                  <a:srgbClr val="10B981"/>
                </a:solidFill>
              </a:defRPr>
            </a:pPr>
            <a:br/>
            <a:br/>
            <a:r>
              <a:t>Thank You! | Ready for Teacher Q&amp;A and Viva Defense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