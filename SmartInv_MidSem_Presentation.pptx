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🌟 A* RESEARCH PAPER PRESENTATION | IEEE S&amp;P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SmartInv: Multimodal Invariant Inference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Automated Security Verification for Smart Contracts using LLMs &amp; Formal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7840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0624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PRESENTER INFORMATION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Name: Rishi</a:t>
            </a:r>
            <a:br/>
            <a:r>
              <a:t>Student ID: 2024ucp1566</a:t>
            </a:r>
            <a:br/>
            <a:r>
              <a:t>Evaluation: Mid-Semester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0624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ORIGINAL RESEARCH CITATION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Columbia University (New York, USA)</a:t>
            </a:r>
            <a:br/>
            <a:r>
              <a:t>Authors: Sally Junsong Wang, Kexin Pei, Junfeng Yang</a:t>
            </a:r>
            <a:br/>
            <a:r>
              <a:t>Conference: IEEE Symposium on Security &amp; Privacy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BACKGROUND &amp; CONTEXT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Why Smart Contract Security is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📜 What is a Smart Contract?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• Self-Executing Code: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Programs stored directly on the Ethereum blockchain that run automatically without middlemen.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The Vending Machine Analogy: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Put in money, choose an option, rules execute automatically and cannot be altered.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DeFi (Decentralized Finance):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Powering digital banking, lending, token swaps, and multi-billion-dollar liquidity pools.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No Do-Overs: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Unlike normal software, blockchain transactions are PERMANENT and IRREVERSIBLE.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⚠️ The Multi-Billion Dollar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• Immutability Trap: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Once deployed, code CANNOT be patched. If there is a bug, anyone in the world can exploit it 24/7.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Astronomical Losses: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Over $3.8 Billion stolen in DeFi smart contract exploits in recent years alone.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High Audit Costs: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Human security audits cost $50,000 to $500,000+ per contract, yet human auditors still miss subtle logic bugs.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The Core Need: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An automated, intelligent system that can find complex logical vulnerabilities before hackers do.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THE PROBLEM STATEMENT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Implementation Bugs vs. Machine Un-auditable 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🟢 Type 1: Implementation Bugs (Easy)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✔ What they are: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Low-level coding mistakes, syntax errors, or well-known vulnerability patterns.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✔ Classic Examples: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Reentrancy attacks (e.g. DAO Hack), Integer Overflow / Underflow, Unchecked return values.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✔ Detection Status: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SOLVED by existing automated tools (Slither, Mythril, Securify).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✔ Why tools can catch them: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Tools look for predefined syntax patterns (e.g., 'call before state update').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🔴 Type 2: Functional Bugs (The Real Threat)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❌ What they are: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Business logic flaws. Code compiles and runs perfectly, but behaves against developer intention!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Classic Examples: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Price manipulation, unauthorized privilege escalation, flawed reward distribution, broken invariant rules.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Detection Status: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COMPLETELY MISSED by traditional tools (0% caught). Called 'Machine Un-auditable'.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The Core Dilemma: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Traditional tools don't know what the contract is SUPPOSED to do!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REAL-WORLD MOTIVATING EXAMPLE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$8.2M Visor Finance Hack (Why Existing Tools Failed)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💥 What Happened in Visor Finance?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• The Contract Function: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`deposit(uint amount, address token)` allowed users to deposit funds into a vault.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The Subtle Flaw: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The contract forwarded a call to `supervisor.approve()`, but NEVER verified if `supervisor` was the genuine contract!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The Attack: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An attacker passed a fake malicious supervisor address. The contract approved unlimited tokens to the attacker.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The Result: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$8,200,000 was drained in a single transaction in December 2021.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492240" y="1325880"/>
            <a:ext cx="49377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08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🔍 Tool Performance on 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6596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Slither (Static Analysis):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  ❌ Reported: 0 Bugs (Safe)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Mythril (Symbolic Execution):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  ❌ Reported: 0 Bugs (Safe)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Manticore (Dynamic Analysis):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  ❌ Reported: 0 Bugs (Safe)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VeriSmart (Formal Verifier):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  ❌ Reported: 0 Bugs (Safe)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SmartInv (Proposed Paper):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  ✅ DETECTED BUG &amp; PROVED IT!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CONCEPT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What is an Invariant? (The Mathematical 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10271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💡 Invariant Defined in 1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"An invariant is a safety condition or business rule that must ALWAYS remain TRUE throughout the entire program execution, no matter what actions a user or hacker takes."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3413455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Balance Invariant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3047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Mathematical Rule: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assert(balance_after &gt;= balance_before)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Meaning:</a:t>
            </a:r>
            <a:br/>
            <a:r>
              <a:t>After depositing funds, a user's vault balance must never decrease.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971800"/>
            <a:ext cx="3413455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15468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Token Supply Invariant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047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Mathematical Rule: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assert(totalSupply == sum(all_balances))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Meaning:</a:t>
            </a:r>
            <a:br/>
            <a:r>
              <a:t>The total minted currency must strictly equal the sum of all individual user wallets.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971800"/>
            <a:ext cx="3413455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15468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Authorization Invariant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047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Mathematical Rule: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assert(msg.sender == owner)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Meaning:</a:t>
            </a:r>
            <a:br/>
            <a:r>
              <a:t>Critical admin functions (like draining reserves) must only execute for authorized creators.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THE SMARTINV SOLUTION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How SmartInv Solves Machine Un-auditable 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13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Multimodal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COMBINES 3 SOURCES OF INFORMATION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Source Code (Solidity logic)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Natural Language (Docstrings, comments &amp; specs)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Transaction Traces (Execution history)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Like a doctor using X-rays + blood tests + patient symptoms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13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Tier of Thought (ToT)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6-STEP STRUCTURED AI REASONING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Upgrades standard prompt engineering.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Deconstructs expert auditing into 6 distinct cognitive steps.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Each tier answers a specialized question fed to the next tier.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Prevents AI hallucinations.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13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0876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Formal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EA5E9"/>
                </a:solidFill>
              </a:defRPr>
            </a:pPr>
            <a:r>
              <a:t>MATHEMATICAL PROOF WITH VERISOL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Translates inferred invariants into Boogie formal logic.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Corral model checker searches for violation paths.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Produces concrete counterexample execution traces.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Zero false confidence — 100% mathematically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End-to-End SmartInv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13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1: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Teaching the AI Invariant Patterns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Collected 80,000+ real Ethereum smart contracts.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Expert manual labeling of 2,000+ invariant samples.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Formatted into 3,000+ Tier of Thought (ToT) question-answer pairs.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Fine-tuned LLaMA-7B using PEFT / LoRA adapter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13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2: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Tier of Thought Invariant Generation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Takes ANY unseen smart contract (.sol file).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Passes through 6 cognitive tiers (Context -&gt; Program Points -&gt; Invariants -&gt; Ranking -&gt; Vulnerability).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Synthesizes bug-critical invariants at specific lines.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Operates in seconds per contract.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13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08760"/>
            <a:ext cx="2956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3: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Mathematical Counterexample Proof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Instruments inferred invariants into contract.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VeriSol compiles contract into Boogie IR language.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Corral Bounded Model Checker proves or disproves invariants.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✔ Outputs exact counterexample exploit trace if violated.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INNOVATION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6-Step Tier of Thought (ToT)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422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1A: Transaction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What business domain is this? (e.g., cross-function, token lending, swaps, arithmetics).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422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1B: Critical Program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Which exact line numbers handle security-sensitive logic, fund transfers, or state changes?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422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2A: Invariant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Given the critical lines, what mathematical assert statements MUST always hold true?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2422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2B: Critical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20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Filters out trivial rules (like x==x) to retain only bug-preventing invariants.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52422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091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3A: Invariant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Sorts invariants by security priority so auditors focus on highest-risk conditions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26280"/>
            <a:ext cx="52422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7091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3B: Vulnerability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Synthesizes bug classification (Healthy vs. Logic Flaw / Privilege Escalation).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METHODOLOGY IN ACTION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Step-by-Step Contract Execution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Input Smart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3A8A"/>
                </a:solidFill>
                <a:latin typeface="Courier New"/>
              </a:defRPr>
            </a:pPr>
            <a:r>
              <a:t>1  pragma solidity &gt;=0.5.0;</a:t>
            </a:r>
            <a:br/>
            <a:r>
              <a:t>2  contract Vault {</a:t>
            </a:r>
            <a:br/>
            <a:r>
              <a:t>3    mapping(address =&gt; uint) public bal;</a:t>
            </a:r>
            <a:br/>
            <a:r>
              <a:t>4    address public supervisor;</a:t>
            </a:r>
            <a:br/>
            <a:r>
              <a:t>5</a:t>
            </a:r>
            <a:br/>
            <a:r>
              <a:t>6    function deposit(uint amount) external {</a:t>
            </a:r>
            <a:br/>
            <a:r>
              <a:t>7      // critical transfer point</a:t>
            </a:r>
            <a:br/>
            <a:r>
              <a:t>8      supervisor.approve(msg.sender, amount);</a:t>
            </a:r>
            <a:br/>
            <a:r>
              <a:t>9      bal[msg.sender] += amount;</a:t>
            </a:r>
            <a:br/>
            <a:r>
              <a:t>10   }</a:t>
            </a:r>
            <a:br/>
            <a:r>
              <a:t>11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25880"/>
            <a:ext cx="56994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242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⚙️ ToT Reasoning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6596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Tier 1A Output: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Context: 'Cross-function token vault approval'</a:t>
            </a:r>
            <a:br/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Tier 1B Output: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Critical Program Point: Line 8 (Supervisor approval)</a:t>
            </a:r>
            <a:br/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Tier 2A/2B Output: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Inferred Invariant:</a:t>
            </a:r>
            <a:br/>
            <a:r>
              <a:t>  8+ assert(supervisor == trustedVaultSupervisor)</a:t>
            </a:r>
            <a:br/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Tier 3A/3B Output: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High Priority | Bug: 'Unauthorized Privilege Escalation'</a:t>
            </a:r>
            <a:br/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Verification Result: </a:t>
            </a:r>
          </a:p>
          <a:p>
            <a:pPr>
              <a:defRPr sz="1200">
                <a:solidFill>
                  <a:srgbClr val="EF4444"/>
                </a:solidFill>
              </a:defRPr>
            </a:pPr>
            <a:r>
              <a:t>  ❌ Invariant Violated! Attacker can supply fake supervisor.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EXPERIMENTAL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Results on 80,000+ Smart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3.5×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More Bug-Critical Invariants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Compared to previous formal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4.0×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More Critical Bugs Detected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Specifically functional logic flaws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EA5E9"/>
                </a:solidFill>
              </a:defRPr>
            </a:pPr>
            <a:r>
              <a:t>150×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Faster Execution Speed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Seconds vs. hours of symbolic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72865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0271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Tool Comparison Summary (1,200+ Ground-Truth Benchmark)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9476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1E293B"/>
                </a:solidFill>
              </a:defRPr>
            </a:pPr>
            <a:r>
              <a:t>• Slither            | Type: Static Analysis        | Speed: Fast           | Verdict: Misses all functional bugs</a:t>
            </a:r>
          </a:p>
          <a:p>
            <a:pPr>
              <a:defRPr sz="1200" b="0">
                <a:solidFill>
                  <a:srgbClr val="1E293B"/>
                </a:solidFill>
              </a:defRPr>
            </a:pPr>
            <a:r>
              <a:t>• Mythril            | Type: Symbolic Exec          | Speed: Slow (Hours)   | Verdict: Suffers path explosion</a:t>
            </a:r>
          </a:p>
          <a:p>
            <a:pPr>
              <a:defRPr sz="1200" b="0">
                <a:solidFill>
                  <a:srgbClr val="1E293B"/>
                </a:solidFill>
              </a:defRPr>
            </a:pPr>
            <a:r>
              <a:t>• Manticore          | Type: Dynamic Analysis       | Speed: Very Slow      | Verdict: Scalability bottleneck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• SmartInv (Paper)   | Type: Multimodal AI + Verifier | Speed: Fast (Seconds) | Verdict: Detects &amp; Proves Functional Bugs 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REAL-WORLD IMPACT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119 Zero-Day Vulnerabilities Discovered on Ethereum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🛡️ Live Mainnet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• 119 Zero-Day Bugs: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SmartInv was run on deployed Ethereum contracts and discovered 119 previously unknown vulnerabilities!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5 High-Severity Confirmed: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5 critical vulnerabilities were officially confirmed by project developer teams upon responsible disclosure.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100% Missed by Others: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Every single one of these 119 bugs was completely missed by Slither, Mythril, and Manticore.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Real Financial Protection: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Prevented millions in potential exploit losses before malicious hackers could discover them.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📋 Discovered Vulnerability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✔ Business Logic Inconsistencies: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Flawed calculation rules in liquidity vaults and staking contracts.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✔ Privilege Escalation: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Unauthorized callers triggering state-altering or administrative actions.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✔ Atomicity &amp; Cross-Call Failures: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External contract calls updating balance without synchronizing global state.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✔ Price Oracle Manipulation: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Flawed price reporting allowing attackers to borrow assets below fair market value.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SCIENTIFIC RIGOR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Ablation Study: Proving the Power of ToT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9377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🔬 What is an Ablation Study?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• Scientific Goal: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Remove components one by one to scientifically isolate which innovation provides the real performance gain.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Finding #1: Tier of Thought is King: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Removing ToT causes the F1-Score to collapse by 66% (from 0.82 down to 0.16).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Finding #2: Natural Language Matters: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Removing natural language reduces functional bug detection by 40× (F1 drops 37%).</a:t>
            </a:r>
            <a:br/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• Key Conclusion: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The structured cognitive reasoning of ToT is the primary breakthrough of this paper.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5943600" y="132588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08760"/>
            <a:ext cx="5059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Ablation Results (Table 9 &amp; 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9659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10B981"/>
                </a:solidFill>
              </a:defRPr>
            </a:pPr>
            <a:r>
              <a:t>• Full SmartInv (All Components)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Accuracy: 0.89 | F1-Score: 0.82 (Baseline (Best) ⭐)</a:t>
            </a:r>
            <a:br/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Remove Optimization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Accuracy: 0.89 | F1-Score: 0.82 (Minimal change)</a:t>
            </a:r>
            <a:br/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• Remove Labeled Features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Accuracy: 0.59 | F1-Score: 0.60 (-22% F1 Drop)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Remove Natural Language (NL)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Accuracy: 0.62 | F1-Score: 0.45 (-37% F1 Drop 📉)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Remove Tier of Thought (ToT)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Accuracy: 0.24 | F1-Score: 0.16 (-66% F1 Collapse 📉📉)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Baseline LLM (No specialization)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Accuracy: 0.12 | F1-Score: 0.14 (Complete failure)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MID-SEMESTER PROGRESS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Practical Work Executed on Local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Environment &amp;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50">
                <a:solidFill>
                  <a:srgbClr val="1E293B"/>
                </a:solidFill>
              </a:defRPr>
            </a:pPr>
            <a:r>
              <a:t>✔ Cloned full research repository and configured dependencies.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Installed PyTorch 2.8, HuggingFace Transformers, PEFT, and OpenAI SDK.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Created clean workspace structure with Git version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Bug Fixing &amp; Compatibility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50">
                <a:solidFill>
                  <a:srgbClr val="1E293B"/>
                </a:solidFill>
              </a:defRPr>
            </a:pPr>
            <a:r>
              <a:t>✔ Fixed Windows file encoding bug (UnicodeEncodeError) in dataset generator.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Replaced hardcoded Linux paths with dynamic relative pathing.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Patched OpenAI client initialization crash for offline and help commands.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Dataset Processing &amp;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50">
                <a:solidFill>
                  <a:srgbClr val="1E293B"/>
                </a:solidFill>
              </a:defRPr>
            </a:pPr>
            <a:r>
              <a:t>✔ Executed generator.py — generated all 3,000+ ToT structured prompt-completion pairs.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Verified smartinv.py CLI execution (Exit Code 0).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Tested standalone and verifier components on sample contracts.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4785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4. Documentation &amp;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43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50">
                <a:solidFill>
                  <a:srgbClr val="1E293B"/>
                </a:solidFill>
              </a:defRPr>
            </a:pPr>
            <a:r>
              <a:t>✔ Authored 5 comprehensive study guides in dedicated study_guide/ directory.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Configured Git remotes (origin -&gt; User GitHub, upstream -&gt; Columbia).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Prepared complete presentation defense material.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CRITICAL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Learning for Smart Contract Invariant Inference | Rishi (2024ucp1566) | Mid-Sem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⚠️ Current System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• LLM Non-Determinism: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Commercial models (like GPT-4 in light mode) can generate varying outputs across runs.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Heavy Manual Annotation: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Curating initial invariant training sets requires substantial expert human effort.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Verifier Compiler Bounds: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VeriSol is bound to specific Solidity versions and cannot compile all cutting-edge compiler constructs.</a:t>
            </a:r>
            <a:br/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Human Assistance Still Needed: 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SmartInv is designed as an auditor assistant, not a 100% autonomous replacement.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🚀 Future Project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✔ Modern Foundation Models: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Integrating LLaMA-3, Claude 3.5, and Gemini 1.5 Pro for enhanced contextual reasoning.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✔ Synthetic Data Generation: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Using automated mutation fuzzing to generate thousands of synthetic invariant datasets automatically.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✔ Cross-Chain Bridge Verification: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Extending invariant inference to multi-chain communication protocols and bridges.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✔ IDE Integration: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Building VS Code and Remix IDE plugins for real-time invariant checking during development.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🎯 PROJECT CONCLUSION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SmartInv: AI Intuition + Mathematical Rigor</a:t>
            </a:r>
          </a:p>
          <a:p>
            <a:pPr algn="ctr">
              <a:defRPr sz="1350">
                <a:solidFill>
                  <a:srgbClr val="E2E8F0"/>
                </a:solidFill>
              </a:defRPr>
            </a:pPr>
            <a:br/>
            <a:r>
              <a:t>✔ First automated framework solving 'Machine Un-auditable' functional bugs in smart contracts.</a:t>
            </a:r>
          </a:p>
          <a:p>
            <a:pPr algn="ctr">
              <a:defRPr sz="1350">
                <a:solidFill>
                  <a:srgbClr val="E2E8F0"/>
                </a:solidFill>
              </a:defRPr>
            </a:pPr>
            <a:br/>
            <a:r>
              <a:t>✔ Combines Multimodal LLM Learning with Formal Verification (VeriSol/Corral).</a:t>
            </a:r>
          </a:p>
          <a:p>
            <a:pPr algn="ctr">
              <a:defRPr sz="1350">
                <a:solidFill>
                  <a:srgbClr val="E2E8F0"/>
                </a:solidFill>
              </a:defRPr>
            </a:pPr>
            <a:br/>
            <a:r>
              <a:t>✔ Tier of Thought (ToT) is the core breakthrough — boosting F1-score by 66%.</a:t>
            </a:r>
          </a:p>
          <a:p>
            <a:pPr algn="ctr">
              <a:defRPr sz="1350">
                <a:solidFill>
                  <a:srgbClr val="E2E8F0"/>
                </a:solidFill>
              </a:defRPr>
            </a:pPr>
            <a:br/>
            <a:r>
              <a:t>✔ Discovered 119 live zero-day vulnerabilities in production Ethereum contracts.</a:t>
            </a:r>
          </a:p>
          <a:p>
            <a:pPr algn="ctr">
              <a:defRPr sz="1600" b="1">
                <a:solidFill>
                  <a:srgbClr val="0EA5E9"/>
                </a:solidFill>
              </a:defRPr>
            </a:pPr>
            <a:br/>
            <a:br/>
            <a:r>
              <a:t>Thank You! | 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