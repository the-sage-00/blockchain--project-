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72036"/>
          </a:solidFill>
          <a:ln w="317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97280"/>
            <a:ext cx="4206240" cy="34747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🌟 A* RESEARCH PAPER PRESENTATION | MID-SEM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600200"/>
            <a:ext cx="9784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SmartInv: Smart Contract Invariant Inference</a:t>
            </a:r>
          </a:p>
          <a:p>
            <a:pPr>
              <a:defRPr sz="1650">
                <a:solidFill>
                  <a:srgbClr val="94A3B8"/>
                </a:solidFill>
              </a:defRPr>
            </a:pPr>
            <a:r>
              <a:t>Solving 'Machine Un-auditable' Functional Bugs on Blockchain using LLMs &amp; Formal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3840480"/>
            <a:ext cx="981425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8720" y="4114800"/>
            <a:ext cx="4663440" cy="169164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👤 PRESENTER INFORMATION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Student Name: Rishi</a:t>
            </a:r>
            <a:br/>
            <a:r>
              <a:t>• Student ID: 2024ucp1566</a:t>
            </a:r>
            <a:br/>
            <a:r>
              <a:t>• Evaluation: Mid-Semester Project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4785055" cy="169164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🏛️ PAPER CITATION</a:t>
            </a:r>
          </a:p>
          <a:p>
            <a:pPr>
              <a:defRPr sz="1250">
                <a:solidFill>
                  <a:srgbClr val="FFFFFF"/>
                </a:solidFill>
              </a:defRPr>
            </a:pPr>
            <a:r>
              <a:t>• Authors: Sally Junsong Wang, Kexin Pei, Junfeng Yang</a:t>
            </a:r>
            <a:br/>
            <a:r>
              <a:t>• Institution: Columbia University, New York, USA</a:t>
            </a:r>
            <a:br/>
            <a:r>
              <a:t>• Venue: IEEE Symposium on Security &amp; Privacy (S&amp;P) 2024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01. INTRODUCTION &amp;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Why Smart Contract Security is a Multi-Billion Dollar Crisis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02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4134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673352" cy="23774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BASIC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What is a Smart Contract?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The Vending Machine Analogy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94560"/>
            <a:ext cx="29718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✔ Self-Executing Programs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Smart contracts are programs running on Ethereum that execute agreements automatically without banks or middlemen.</a:t>
            </a:r>
            <a:br/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✔ The Vending Machine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Put in tokens, select an option, and the code dispenses the output according to strict pre-coded rules.</a:t>
            </a:r>
            <a:br/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✔ DeFi Scale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Today, smart contracts safeguard hundreds of billions in digital loans, exchanges, and vaults.</a:t>
            </a:r>
            <a:br/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134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325880"/>
            <a:ext cx="109728" cy="4892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5152" y="1490472"/>
            <a:ext cx="1673352" cy="23774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THE CORE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178308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The Immutability Trap</a:t>
            </a:r>
          </a:p>
          <a:p>
            <a:pPr>
              <a:defRPr sz="1000" b="1">
                <a:solidFill>
                  <a:srgbClr val="F43F5E"/>
                </a:solidFill>
              </a:defRPr>
            </a:pPr>
            <a:r>
              <a:t>Why Blockchain is Different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194560"/>
            <a:ext cx="29718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⚠️ No Edit Button Allowed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Once code is committed to the blockchain, it CANNOT be modified, patched, or updated like normal software.</a:t>
            </a:r>
            <a:br/>
          </a:p>
          <a:p>
            <a:pPr>
              <a:defRPr sz="1200" b="1">
                <a:solidFill>
                  <a:srgbClr val="F43F5E"/>
                </a:solidFill>
              </a:defRPr>
            </a:pPr>
            <a:r>
              <a:t>⚠️ Open 24/7 to the World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Anyone in the world can inspect the code. If a tiny flaw exists, hackers will find it and drain the funds.</a:t>
            </a:r>
            <a:br/>
          </a:p>
          <a:p>
            <a:pPr>
              <a:defRPr sz="1200" b="1">
                <a:solidFill>
                  <a:srgbClr val="F43F5E"/>
                </a:solidFill>
              </a:defRPr>
            </a:pPr>
            <a:r>
              <a:t>⚠️ Irreversible Loss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There is no undo button on blockchain. Once money is transferred to a hacker, it is gone forever.</a:t>
            </a:r>
            <a:br/>
          </a:p>
        </p:txBody>
      </p:sp>
      <p:sp>
        <p:nvSpPr>
          <p:cNvPr id="19" name="Rounded Rectangle 18"/>
          <p:cNvSpPr/>
          <p:nvPr/>
        </p:nvSpPr>
        <p:spPr>
          <a:xfrm>
            <a:off x="8046720" y="1325880"/>
            <a:ext cx="34134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1325880"/>
            <a:ext cx="109728" cy="4892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02752" y="1490472"/>
            <a:ext cx="1975104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INDUSTRY 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78308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Multi-Billion Losses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Why Human Audits Fail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94560"/>
            <a:ext cx="29718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💡 $3.8B+ Stolen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Over $3.8 Billion lost to smart contract exploits in recent years across top DeFi protocols.</a:t>
            </a:r>
            <a:br/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💡 Crazy Expensive Audits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Companies pay $50,000 to $500,000+ for human security reviews, yet humans still miss subtle bugs.</a:t>
            </a:r>
            <a:br/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💡 The Project Goal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SmartInv builds an AI-powered automated auditor that catches deep functional bugs before release.</a:t>
            </a:r>
            <a:br/>
          </a:p>
        </p:txBody>
      </p:sp>
    </p:spTree>
  </p:cSld>
  <p:clrMapOvr>
    <a:masterClrMapping/>
  </p:clrMapOvr>
  <p:transition spd="med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02. THE CORE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Implementation Bugs vs. Machine Un-auditable Functional Bugs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03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874519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SOLVED BY 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Type 1: Implementation Bugs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The Easy Syntax Errors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✔ What Are They?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Low-level coding mistakes like integer overflow (255+1=0) or reentrancy loops (calling withdraw before updating balance).</a:t>
            </a:r>
            <a:br/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Why They Are Easy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They follow predictable syntax patterns that linters can match line-by-line.</a:t>
            </a:r>
            <a:br/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Tool Status: SOLVED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Tools like Slither, Mythril, and Securify catch over 95% of these straightforward syntax bugs.</a:t>
            </a:r>
            <a:br/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✔ The Spell-Checker Analogy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Like a spell-checker highlighting 'teh' -&gt; 'the'. Simple pattern matching solves it.</a:t>
            </a:r>
            <a:br/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512064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325880"/>
            <a:ext cx="109728" cy="4892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65392" y="1490472"/>
            <a:ext cx="2377440" cy="23774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MACHINE UN-AUDITABLE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783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Type 2: Functional Bugs</a:t>
            </a:r>
          </a:p>
          <a:p>
            <a:pPr>
              <a:defRPr sz="1000" b="1">
                <a:solidFill>
                  <a:srgbClr val="F43F5E"/>
                </a:solidFill>
              </a:defRPr>
            </a:pPr>
            <a:r>
              <a:t>The Deadly Business Logic Flaws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</a:defRPr>
            </a:pPr>
            <a:r>
              <a:t>❌ What Are They?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Business logic flaws. Code compiles cleanly and runs with zero crashes, but violates what the developer intended!</a:t>
            </a:r>
            <a:br/>
          </a:p>
          <a:p>
            <a:pPr>
              <a:defRPr sz="1200" b="1">
                <a:solidFill>
                  <a:srgbClr val="F43F5E"/>
                </a:solidFill>
              </a:defRPr>
            </a:pPr>
            <a:r>
              <a:t>❌ Why They Are Deadly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The contract happily transfers $8M to a random user because rules were misconfigured.</a:t>
            </a:r>
            <a:br/>
          </a:p>
          <a:p>
            <a:pPr>
              <a:defRPr sz="1200" b="1">
                <a:solidFill>
                  <a:srgbClr val="F43F5E"/>
                </a:solidFill>
              </a:defRPr>
            </a:pPr>
            <a:r>
              <a:t>❌ Tool Status: 0% DETECTED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Traditional tools report '0 BUGS (SAFE)' because they do NOT understand developer intent.</a:t>
            </a:r>
            <a:br/>
          </a:p>
          <a:p>
            <a:pPr>
              <a:defRPr sz="1200" b="1">
                <a:solidFill>
                  <a:srgbClr val="F43F5E"/>
                </a:solidFill>
              </a:defRPr>
            </a:pPr>
            <a:r>
              <a:t>❌ The Essay Analogy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Like an essay with perfect grammar arguing that 2+2=5. Spell-checkers can't detect flawed meaning!</a:t>
            </a:r>
            <a:br/>
          </a:p>
        </p:txBody>
      </p:sp>
    </p:spTree>
  </p:cSld>
  <p:clrMapOvr>
    <a:masterClrMapping/>
  </p:clrMapOvr>
  <p:transition spd="med">
    <p:push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03. REAL CASE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The $8.2 Million Visor Finance Hack (Dec 2021)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04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6692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874519" cy="23774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INCIDENT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Story Behind the Exploit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A Single Missing Address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94560"/>
            <a:ext cx="5212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• The Intended Logic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Visor had a deposit function: `deposit(uint amount, address token)` designed to mint vault shares for users.</a:t>
            </a:r>
            <a:br/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The Innocent-Looking Line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The code called `supervisor.approve(token, amount)` to authorize token movement between contracts.</a:t>
            </a:r>
            <a:br/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The Fatal Bug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The contract forgot to check IF `supervisor` was the genuine supervisor contract or a fake address!</a:t>
            </a:r>
            <a:br/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The $8.2M Drain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 hacker passed their own attacker contract as the supervisor. The vault approved unlimited tokens, draining $8.2M in 1 transaction.</a:t>
            </a:r>
            <a:br/>
          </a:p>
        </p:txBody>
      </p:sp>
      <p:sp>
        <p:nvSpPr>
          <p:cNvPr id="14" name="Rounded Rectangle 13"/>
          <p:cNvSpPr/>
          <p:nvPr/>
        </p:nvSpPr>
        <p:spPr>
          <a:xfrm>
            <a:off x="6675120" y="1325880"/>
            <a:ext cx="47850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75120" y="1325880"/>
            <a:ext cx="109728" cy="4892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31152" y="1490472"/>
            <a:ext cx="1673352" cy="23774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AUDIT VERDICT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1783080"/>
            <a:ext cx="43278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How Existing Tools Reacted</a:t>
            </a:r>
          </a:p>
          <a:p>
            <a:pPr>
              <a:defRPr sz="1000" b="1">
                <a:solidFill>
                  <a:srgbClr val="F43F5E"/>
                </a:solidFill>
              </a:defRPr>
            </a:pPr>
            <a:r>
              <a:t>The Failure of Traditional Auditing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194560"/>
            <a:ext cx="4297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</a:defRPr>
            </a:pPr>
            <a:r>
              <a:t>Slither (Static Analysis):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❌ Reported: 0 Bugs (Passed as Safe)</a:t>
            </a:r>
            <a:br/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Mythril (Symbolic Execution):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❌ Reported: 0 Bugs (Passed as Safe)</a:t>
            </a:r>
            <a:br/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Manticore (Dynamic Engine):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❌ Reported: 0 Bugs (Passed as Safe)</a:t>
            </a:r>
            <a:br/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VeriSmart (Arithmetic Verifier):</a:t>
            </a:r>
          </a:p>
          <a:p>
            <a:pPr>
              <a:defRPr sz="1100" b="1">
                <a:solidFill>
                  <a:srgbClr val="64748B"/>
                </a:solidFill>
              </a:defRPr>
            </a:pPr>
            <a:r>
              <a:t>❌ Reported: 0 Bugs (Passed as Safe)</a:t>
            </a:r>
            <a:br/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SmartInv (Columbia Paper):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✅ INFERRED INVARIANT VIOLATION &amp; PREVENTED THE HACK!</a:t>
            </a:r>
            <a:br/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04. LITERATURE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Why Existing Security Tools Fail Against Logic Flaws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05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23317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773936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STATIC LINTERS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Static Analysis (e.g. Slither)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The Pattern-Matching Trap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031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Scans source code for predefined bad coding patterns.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Completely blind to business logic: if code compiles cleanly, it assumes it is 100% safe.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High false positive noise on complex protocols.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109728" cy="23317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1490472"/>
            <a:ext cx="1975104" cy="23774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SYMBOLIC PROVERS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7830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Symbolic Execution (e.g. Mythril)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The Path Explosion Bottleneck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Tries to mathematically explore every possible execution branch.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Smart contracts with loops and external calls explode into millions of paths.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Takes hours per contract and often times out with no answer.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109728" cy="2331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" y="4005072"/>
            <a:ext cx="1975104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FORMAL VERIFIERS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2976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Arithmetic Verifiers (e.g. VeriSmart)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Narrow Domain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177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Only checks basic arithmetic bounds (e.g. x + y &lt;= MAX_INT).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Cannot reason about user roles, admin permissions, or balance consistency.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Fails to infer high-level business rules.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3840480"/>
            <a:ext cx="109728" cy="2331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005072"/>
            <a:ext cx="1874519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THE AI 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2976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The Fundamental Missing Link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Intent &amp; Semantic Awareness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177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Traditional tools do not read English comments, documentation, or specifications.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They analyze syntax without understanding the developer's goal.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SmartInv bridges this gap with Multimodal AI.</a:t>
            </a:r>
          </a:p>
        </p:txBody>
      </p:sp>
    </p:spTree>
  </p:cSld>
  <p:clrMapOvr>
    <a:masterClrMapping/>
  </p:clrMapOvr>
  <p:transition spd="med">
    <p:push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05. CORE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What is an Invariant? (The Golden Rule of Smart Contract Security)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06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728655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13258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371600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Invariant Defined in 1 Plain English Sentence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The Mathematical Anchor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659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036"/>
                </a:solidFill>
              </a:defRPr>
            </a:pPr>
            <a:r>
              <a:t>"An Invariant is a golden safety rule that must ALWAYS remain TRUE throughout the entire contract lifecycle, no matter what crazy transactions a hacker executes."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34640"/>
            <a:ext cx="3413455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834640"/>
            <a:ext cx="109728" cy="33832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7552" y="2999232"/>
            <a:ext cx="1472184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SAFETY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329184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Bank Balance Rule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Practical Invariant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66160"/>
            <a:ext cx="29718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Mathematical Invariant:</a:t>
            </a:r>
          </a:p>
          <a:p>
            <a:pPr>
              <a:defRPr sz="1050" b="1">
                <a:solidFill>
                  <a:srgbClr val="10B981"/>
                </a:solidFill>
              </a:defRPr>
            </a:pPr>
            <a:r>
              <a:t>assert(balance_after &gt;= balance_before);</a:t>
            </a:r>
            <a:br/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Simple Meaning: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When a user deposits funds, their account balance must never decrease. If a deposit reduces your balance -&gt; MAJOR BUG FOUND!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834640"/>
            <a:ext cx="3413455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2834640"/>
            <a:ext cx="109728" cy="33832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45152" y="2999232"/>
            <a:ext cx="1472184" cy="23774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SAFETY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329184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Token Supply Rule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Practical Invariant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566160"/>
            <a:ext cx="29718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Mathematical Invariant:</a:t>
            </a:r>
          </a:p>
          <a:p>
            <a:pPr>
              <a:defRPr sz="1050" b="1">
                <a:solidFill>
                  <a:srgbClr val="0EA5E9"/>
                </a:solidFill>
              </a:defRPr>
            </a:pPr>
            <a:r>
              <a:t>assert(totalSupply == sum(userBalances));</a:t>
            </a:r>
            <a:br/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Simple Meaning: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Total tokens in circulation must strictly equal the sum of all individual wallets. If tokens appear out of thin air -&gt; MONEY PRINTING EXPLOIT!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834640"/>
            <a:ext cx="3413455" cy="3383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46720" y="2834640"/>
            <a:ext cx="109728" cy="338328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02752" y="2999232"/>
            <a:ext cx="1472184" cy="23774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SAFETY RULE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329184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Admin Permission Rule</a:t>
            </a:r>
          </a:p>
          <a:p>
            <a:pPr>
              <a:defRPr sz="1000" b="1">
                <a:solidFill>
                  <a:srgbClr val="F43F5E"/>
                </a:solidFill>
              </a:defRPr>
            </a:pPr>
            <a:r>
              <a:t>Practical Invariant 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566160"/>
            <a:ext cx="297180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Mathematical Invariant:</a:t>
            </a:r>
          </a:p>
          <a:p>
            <a:pPr>
              <a:defRPr sz="1050" b="1">
                <a:solidFill>
                  <a:srgbClr val="F43F5E"/>
                </a:solidFill>
              </a:defRPr>
            </a:pPr>
            <a:r>
              <a:t>assert(msg.sender == owner);</a:t>
            </a:r>
            <a:br/>
          </a:p>
          <a:p>
            <a:pPr>
              <a:defRPr sz="1000" b="1">
                <a:solidFill>
                  <a:srgbClr val="64748B"/>
                </a:solidFill>
              </a:defRPr>
            </a:pPr>
            <a:r>
              <a:t>Simple Meaning: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Only the verified creator of the contract can withdraw vault reserves. If a random user triggers a withdrawal -&gt; PRIVILEGE ESCALATION BUG!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06. PROPOSED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SmartInv: AI Intuition Meets Mathematical Formal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07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12064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874519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COGNITIVE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Pillar 1: Deep Learning Intuition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Fine-Tuned LLaMA Foundation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🧠 The AI Role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Acts like an experienced human security auditor reading the contract.</a:t>
            </a:r>
            <a:br/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🧠 Multimodal Understanding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Reads Solidity code AND English comments/docstrings to grasp developer intent.</a:t>
            </a:r>
            <a:br/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🧠 Fine-Tuned Specialization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Trained on thousands of invariant samples using PEFT / LoRA adapter layers.</a:t>
            </a:r>
            <a:br/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🧠 Output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Infers candidates for bug-critical invariants at specific line numbers in seconds.</a:t>
            </a:r>
            <a:br/>
          </a:p>
        </p:txBody>
      </p:sp>
      <p:sp>
        <p:nvSpPr>
          <p:cNvPr id="14" name="Rounded Rectangle 13"/>
          <p:cNvSpPr/>
          <p:nvPr/>
        </p:nvSpPr>
        <p:spPr>
          <a:xfrm>
            <a:off x="6309360" y="1325880"/>
            <a:ext cx="512064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325880"/>
            <a:ext cx="109728" cy="4892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65392" y="1490472"/>
            <a:ext cx="2176272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VERIFICATION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78308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Pillar 2: Mathematical Formal Methods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Bounded Model Checker (VeriSol &amp; Corral)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466344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⚖️ The Verifier Role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Acts like a strict mathematician proving or disproving the AI's candidate invariants.</a:t>
            </a:r>
            <a:br/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⚖️ Boogie Intermediate Form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Translates Solidity + Invariants into Boogie formal verification language.</a:t>
            </a:r>
            <a:br/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⚖️ Corral Solver Engine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Exhaustively checks if ANY transaction sequence can violate the invariant.</a:t>
            </a:r>
            <a:br/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⚖️ Output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Either proves safety OR outputs a step-by-step counterexample exploit trace.</a:t>
            </a:r>
            <a:br/>
          </a:p>
        </p:txBody>
      </p:sp>
    </p:spTree>
  </p:cSld>
  <p:clrMapOvr>
    <a:masterClrMapping/>
  </p:clrMapOvr>
  <p:transition spd="med">
    <p:push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07. KEY INNOVATION 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Multimodal Learning: Seeing the Complete Picture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08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36576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969264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SYNTAX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Solidity Source Code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The Technical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03120"/>
            <a:ext cx="2971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Mappings, state variables, and execution pathways.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Tells the AI HOW the code actually runs.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Captures technical mechanics.</a:t>
            </a:r>
            <a:br/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325880"/>
            <a:ext cx="109728" cy="3657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5152" y="1490472"/>
            <a:ext cx="1271016" cy="23774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SEMANTICS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178308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Natural Language Specs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The Human Intention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103120"/>
            <a:ext cx="2971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NatSpec comments, documentation, and parameter descriptions.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Tells the AI WHAT the code is supposed to achieve.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Captures developer business intent.</a:t>
            </a:r>
            <a:br/>
          </a:p>
        </p:txBody>
      </p:sp>
      <p:sp>
        <p:nvSpPr>
          <p:cNvPr id="19" name="Rounded Rectangle 18"/>
          <p:cNvSpPr/>
          <p:nvPr/>
        </p:nvSpPr>
        <p:spPr>
          <a:xfrm>
            <a:off x="80467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1325880"/>
            <a:ext cx="109728" cy="3657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02752" y="1490472"/>
            <a:ext cx="1170432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BEHAVIOR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78308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Transaction History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The Real-World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03120"/>
            <a:ext cx="2971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Historical Ethereum execution traces and balances.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Tells the AI HOW USERS actually interact with the contract.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Captures runtime context.</a:t>
            </a:r>
            <a:br/>
          </a:p>
        </p:txBody>
      </p:sp>
      <p:sp>
        <p:nvSpPr>
          <p:cNvPr id="24" name="Rounded Rectangle 23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166360"/>
            <a:ext cx="109728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7552" y="5330952"/>
            <a:ext cx="1069848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ANALOGY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623560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🏥 The Doctor Analogy (Why Multimodal Learning Wins)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Real-Life Intuition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623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72036"/>
                </a:solidFill>
              </a:defRPr>
            </a:pPr>
            <a:r>
              <a:t>A great doctor doesn't just look at an X-Ray (Code). They check blood tests (Traces) and listen to what the patient describes (Natural Language). Combining all 3 sources reveals the true diagnosis!</a:t>
            </a:r>
          </a:p>
        </p:txBody>
      </p:sp>
    </p:spTree>
  </p:cSld>
  <p:clrMapOvr>
    <a:masterClrMapping/>
  </p:clrMapOvr>
  <p:transition spd="med">
    <p:push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08. KEY INNOVATION #2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Tier of Thought (ToT): 6-Step Structured AI Reasoning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09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14813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069848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TIER 1A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Tier 1A: Transaction Context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Cognitive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75688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Identifies what business domain this contract belongs to (e.g. cross-function lending, swaps, arithmetics).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109728" cy="1481328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1490472"/>
            <a:ext cx="1069848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TIER 1B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7830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Tier 1B: Critical Program Points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Cognitive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75688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Pinpoints the exact security-sensitive lines of code (e.g. Line 8: supervisor approval, Line 15: token minting).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53512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2953512"/>
            <a:ext cx="109728" cy="14813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" y="3118104"/>
            <a:ext cx="1069848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TIER 2A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410712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Tier 2A: Invariant Generation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Cognitive Step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703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Synthesizes mathematical assert statements that must hold at those critical program points.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953512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2953512"/>
            <a:ext cx="109728" cy="14813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3118104"/>
            <a:ext cx="1069848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TIER 2B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410712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Tier 2B: Critical Invariant Filter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Cognitive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70332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Removes trivial tautologies (like x == x) to keep only bug-critical safety rules.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81144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4581144"/>
            <a:ext cx="109728" cy="148132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87552" y="4745736"/>
            <a:ext cx="1069848" cy="23774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TIER 3A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038344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Tier 3A: Invariant Priority Ranking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Cognitive 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330952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Sorts invariants by risk priority so auditors immediately inspect high-threat vulnerabilities.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581144"/>
            <a:ext cx="5242255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17920" y="4581144"/>
            <a:ext cx="109728" cy="1481328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73952" y="4745736"/>
            <a:ext cx="1069848" cy="23774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TIER 3B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2" y="5038344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Tier 3B: Vulnerability Classification</a:t>
            </a:r>
          </a:p>
          <a:p>
            <a:pPr>
              <a:defRPr sz="1000" b="1">
                <a:solidFill>
                  <a:srgbClr val="F43F5E"/>
                </a:solidFill>
              </a:defRPr>
            </a:pPr>
            <a:r>
              <a:t>Cognitive Step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30952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</a:defRPr>
            </a:pPr>
            <a:r>
              <a:t>Outputs final security status: Healthy OR Identifies the exact bug category (e.g. Privilege Escalation).</a:t>
            </a:r>
          </a:p>
        </p:txBody>
      </p:sp>
    </p:spTree>
  </p:cSld>
  <p:clrMapOvr>
    <a:masterClrMapping/>
  </p:clrMapOvr>
  <p:transition spd="med">
    <p:wipe dir="d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09. LIVE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How SmartInv Analyzes a Vulnerable Contract Step-by-Step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10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4754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170432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SOLIDITY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Input Solidity Contract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Code Under Audit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2011680"/>
            <a:ext cx="4297680" cy="3977639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defRPr sz="1100">
                <a:solidFill>
                  <a:srgbClr val="E0F2FE"/>
                </a:solidFill>
                <a:latin typeface="Consolas"/>
              </a:defRPr>
            </a:pPr>
            <a:r>
              <a:t>1  pragma solidity &gt;=0.5.0;</a:t>
            </a:r>
            <a:br/>
            <a:r>
              <a:t>2  contract Vault {</a:t>
            </a:r>
            <a:br/>
            <a:r>
              <a:t>3    mapping(address =&gt; uint) public bal;</a:t>
            </a:r>
            <a:br/>
            <a:r>
              <a:t>4    address public supervisor;</a:t>
            </a:r>
            <a:br/>
            <a:r>
              <a:t>5</a:t>
            </a:r>
            <a:br/>
            <a:r>
              <a:t>6    function deposit(uint amount) external {</a:t>
            </a:r>
            <a:br/>
            <a:r>
              <a:t>7      // [Vulnerable Point]</a:t>
            </a:r>
            <a:br/>
            <a:r>
              <a:t>8      supervisor.approve(msg.sender, amount);</a:t>
            </a:r>
            <a:br/>
            <a:r>
              <a:t>9      bal[msg.sender] += amount;</a:t>
            </a:r>
            <a:br/>
            <a:r>
              <a:t>10   }</a:t>
            </a:r>
            <a:br/>
            <a:r>
              <a:t>11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1325880"/>
            <a:ext cx="56994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60720" y="1325880"/>
            <a:ext cx="109728" cy="4892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16752" y="1490472"/>
            <a:ext cx="1572768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AI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1783080"/>
            <a:ext cx="5242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SmartInv ToT Reasoning Flow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Live Inference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103120"/>
            <a:ext cx="5212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4F46E5"/>
                </a:solidFill>
              </a:defRPr>
            </a:pPr>
            <a:r>
              <a:t>• Tier 1A Context: 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  Cross-function Vault token approval logic.</a:t>
            </a:r>
            <a:br/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• Tier 1B Critical Line: 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  Line 8 (Supervisor approval without address validation).</a:t>
            </a:r>
            <a:br/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• Tier 2A/2B Invariant: 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  8+ assert(supervisor == trustedVaultSupervisor);</a:t>
            </a:r>
            <a:br/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• Tier 3A Ranking: 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  Rank 1: Highest security priority.</a:t>
            </a:r>
            <a:br/>
          </a:p>
          <a:p>
            <a:pPr>
              <a:defRPr sz="1150" b="1">
                <a:solidFill>
                  <a:srgbClr val="4F46E5"/>
                </a:solidFill>
              </a:defRPr>
            </a:pPr>
            <a:r>
              <a:t>• Tier 3B Bug Inference: 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  Classification: 'Unauthorized Privilege Escalation'.</a:t>
            </a:r>
            <a:br/>
          </a:p>
          <a:p>
            <a:pPr>
              <a:defRPr sz="1150" b="1">
                <a:solidFill>
                  <a:srgbClr val="F43F5E"/>
                </a:solidFill>
              </a:defRPr>
            </a:pPr>
            <a:r>
              <a:t>• Formal Verifier: </a:t>
            </a:r>
          </a:p>
          <a:p>
            <a:pPr>
              <a:defRPr sz="1100" b="1">
                <a:solidFill>
                  <a:srgbClr val="F43F5E"/>
                </a:solidFill>
              </a:defRPr>
            </a:pPr>
            <a:r>
              <a:t>  ❌ Invariant VIOLATED: Attacker can supply rogue supervisor address!</a:t>
            </a:r>
            <a:br/>
          </a:p>
        </p:txBody>
      </p:sp>
    </p:spTree>
  </p:cSld>
  <p:clrMapOvr>
    <a:masterClrMapping/>
  </p:clrMapOvr>
  <p:transition spd="med">
    <p:push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10. KEY INNOVATION #3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Formal Verification: The Mathematical Proof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11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36576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069848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Stage 1: Instrumentation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Solidity + Invariants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03120"/>
            <a:ext cx="2971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Inferred invariants from AI are inserted as formal `assert()` statements at critical lines.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Prepared and cleaned for verification.</a:t>
            </a:r>
            <a:br/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325880"/>
            <a:ext cx="109728" cy="365760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45152" y="1490472"/>
            <a:ext cx="1069848" cy="23774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STAGE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178308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Stage 2: VeriSol Translation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Boogie Intermediate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2103120"/>
            <a:ext cx="2971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Microsoft VeriSol translates EVM bytecode and Solidity logic into Boogie formal IR.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Eliminates compiler ambiguities.</a:t>
            </a:r>
            <a:br/>
          </a:p>
        </p:txBody>
      </p:sp>
      <p:sp>
        <p:nvSpPr>
          <p:cNvPr id="19" name="Rounded Rectangle 18"/>
          <p:cNvSpPr/>
          <p:nvPr/>
        </p:nvSpPr>
        <p:spPr>
          <a:xfrm>
            <a:off x="8046720" y="1325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1325880"/>
            <a:ext cx="109728" cy="36576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02752" y="1490472"/>
            <a:ext cx="1069848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STAGE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1783080"/>
            <a:ext cx="2956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Stage 3: Corral Solver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Bounded Model Checker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103120"/>
            <a:ext cx="29718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Corral proves if ANY transaction sequence can violate the invariant rule.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If violated -&gt; Generates an exact counterexample exploit trace!</a:t>
            </a:r>
            <a:br/>
          </a:p>
        </p:txBody>
      </p:sp>
      <p:sp>
        <p:nvSpPr>
          <p:cNvPr id="24" name="Rounded Rectangle 23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166360"/>
            <a:ext cx="109728" cy="10515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7552" y="5330952"/>
            <a:ext cx="868680" cy="23774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5623560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🎯 What is a Counterexample Trace?</a:t>
            </a:r>
          </a:p>
          <a:p>
            <a:pPr>
              <a:defRPr sz="1000" b="1">
                <a:solidFill>
                  <a:srgbClr val="F43F5E"/>
                </a:solidFill>
              </a:defRPr>
            </a:pPr>
            <a:r>
              <a:t>Zero Hallucination Guarantee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6235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72036"/>
                </a:solidFill>
              </a:defRPr>
            </a:pPr>
            <a:r>
              <a:t>A counterexample trace is mathematically definitive proof: 'If user calls deposit(100) -&gt; then calls execute() -&gt; invariant fails at Line 8.' This eliminates false alarms!</a:t>
            </a:r>
          </a:p>
        </p:txBody>
      </p:sp>
    </p:spTree>
  </p:cSld>
  <p:clrMapOvr>
    <a:masterClrMapping/>
  </p:clrMapOvr>
  <p:transition spd="med">
    <p:push dir="r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11. 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Large-Scale Evaluation on 80,000+ Smart Contracts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12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34134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173736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271016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91640"/>
            <a:ext cx="2971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4F46E5"/>
                </a:solidFill>
              </a:defRPr>
            </a:pPr>
            <a:r>
              <a:t>3.5×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More Invariants — Discovered 3.5× more security-critical invariants than previous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34134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109728" cy="1737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45152" y="1490472"/>
            <a:ext cx="1271016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691640"/>
            <a:ext cx="2971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4.0×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More Critical Bugs — Detected 4× more high-risk functional vulnerabilities than baselines.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25880"/>
            <a:ext cx="3413455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1325880"/>
            <a:ext cx="109728" cy="17373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2752" y="1490472"/>
            <a:ext cx="1371600" cy="23774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EFFICIENCY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691640"/>
            <a:ext cx="2971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150×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Faster Speed — Inference runs in seconds compared to hours for symbolic execution.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46120"/>
            <a:ext cx="10728655" cy="2971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1520" y="3246120"/>
            <a:ext cx="109728" cy="2971800"/>
          </a:xfrm>
          <a:prstGeom prst="roundRect">
            <a:avLst/>
          </a:prstGeom>
          <a:solidFill>
            <a:srgbClr val="17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7552" y="3410712"/>
            <a:ext cx="1371600" cy="237744"/>
          </a:xfrm>
          <a:prstGeom prst="roundRect">
            <a:avLst/>
          </a:prstGeom>
          <a:solidFill>
            <a:srgbClr val="172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703320"/>
            <a:ext cx="102714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Comprehensive Tool Comparison (1,200+ Audited Ground Truth Benchmark)</a:t>
            </a:r>
          </a:p>
          <a:p>
            <a:pPr>
              <a:defRPr sz="1000" b="1">
                <a:solidFill>
                  <a:srgbClr val="172036"/>
                </a:solidFill>
              </a:defRPr>
            </a:pPr>
            <a:r>
              <a:t>Performance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886200"/>
            <a:ext cx="102412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 b="0">
                <a:solidFill>
                  <a:srgbClr val="334155"/>
                </a:solidFill>
              </a:defRPr>
            </a:pPr>
            <a:r>
              <a:t>• Slither        | Tech: Static Linter            | Speed: Fast (Seconds)     | Verdict: Misses all functional logic bugs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• Mythril        | Tech: Symbolic Execution       | Speed: Slow (Hours)       | Verdict: Path explosion bottleneck</a:t>
            </a:r>
          </a:p>
          <a:p>
            <a:pPr>
              <a:defRPr sz="1100" b="0">
                <a:solidFill>
                  <a:srgbClr val="334155"/>
                </a:solidFill>
              </a:defRPr>
            </a:pPr>
            <a:r>
              <a:t>• Manticore      | Tech: Dynamic Analysis         | Speed: Very Slow (Hours)  | Verdict: Cannot scale to large contracts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• SmartInv       | Tech: Multimodal AI + Verifier | Speed: Fast (Seconds)     | Verdict: Detects &amp; Proves Functional Bugs ⭐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12. REAL-WORLD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119 Zero-Day Vulnerabilities Discovered on Ethereum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13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233172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271016" cy="237744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119 Zero-Day Bugs</a:t>
            </a:r>
          </a:p>
          <a:p>
            <a:pPr>
              <a:defRPr sz="1000" b="1">
                <a:solidFill>
                  <a:srgbClr val="F43F5E"/>
                </a:solidFill>
              </a:defRPr>
            </a:pPr>
            <a:r>
              <a:t>Previously Unknown Exploits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031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Discovered in live, deployed Ethereum mainnet contracts.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Zero previous public knowledge or audit reports existed.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All 119 bugs were 100% missed by traditional tools.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109728" cy="2331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1490472"/>
            <a:ext cx="1271016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7830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5 High-Severity Confirmed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Developer Validations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5 critical vulnerabilities officially confirmed by project core teams.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Responsible disclosure prevented potential millions in exploit losses.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Demonstrates practical real-world industry impact.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109728" cy="23317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" y="4005072"/>
            <a:ext cx="1371600" cy="23774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LOGIC BUGS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2976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Business Logic Flaws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Vault &amp; Staking Issues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177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Discovered flawed reward calculation algorithms in staking pools.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Fixed share-dilution loopholes where early depositors were cheated.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Prevented price-oracle arbitrage exploits.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3840480"/>
            <a:ext cx="109728" cy="2331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005072"/>
            <a:ext cx="1170432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2976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Privilege Escalations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Access Control Bypasses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177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• Found contracts where unauthorized external callers triggered admin functions.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Identified uninitialized state variables in proxy contracts.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Secured cross-bridge token transfers.</a:t>
            </a:r>
          </a:p>
        </p:txBody>
      </p:sp>
    </p:spTree>
  </p:cSld>
  <p:clrMapOvr>
    <a:masterClrMapping/>
  </p:clrMapOvr>
  <p:transition spd="med">
    <p:push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13. SCIENTIFIC RIGOR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Ablation Study: Proving Tier of Thought is the Hero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14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47548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48920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1472184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What is an Ablation Study?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Isolating What Really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94560"/>
            <a:ext cx="42976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4F46E5"/>
                </a:solidFill>
              </a:defRPr>
            </a:pPr>
            <a:r>
              <a:t>• The Scientific Test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Researchers systematically removed one component at a time to measure exactly how much accuracy drops.</a:t>
            </a:r>
            <a:br/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Key Finding #1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Removing Tier of Thought causes a catastrophic 66% drop in F1-score!</a:t>
            </a:r>
            <a:br/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Key Finding #2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Removing Natural Language causes a 37% drop (and functional bug detection drops 40×).</a:t>
            </a:r>
            <a:br/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The Conclusion</a:t>
            </a:r>
            <a:br/>
          </a:p>
          <a:p>
            <a:pPr>
              <a:defRPr sz="1100">
                <a:solidFill>
                  <a:srgbClr val="334155"/>
                </a:solidFill>
              </a:defRPr>
            </a:pPr>
            <a:r>
              <a:t>Tier of Thought structured reasoning is the single most vital innovation of the paper.</a:t>
            </a:r>
            <a:br/>
          </a:p>
        </p:txBody>
      </p:sp>
      <p:sp>
        <p:nvSpPr>
          <p:cNvPr id="14" name="Rounded Rectangle 13"/>
          <p:cNvSpPr/>
          <p:nvPr/>
        </p:nvSpPr>
        <p:spPr>
          <a:xfrm>
            <a:off x="5760720" y="1325880"/>
            <a:ext cx="5699455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60720" y="1325880"/>
            <a:ext cx="109728" cy="4892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16752" y="1490472"/>
            <a:ext cx="1069848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1783080"/>
            <a:ext cx="52422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Ablation Experiment Data (Table 9 &amp; 11)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Measured Accuracy &amp;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194560"/>
            <a:ext cx="52120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50" b="1">
                <a:solidFill>
                  <a:srgbClr val="10B981"/>
                </a:solidFill>
              </a:defRPr>
            </a:pPr>
            <a:r>
              <a:t>• Full SmartInv (All Features)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Accuracy: 0.89 | F1-Score: 0.82 (Optimal Baseline ⭐)</a:t>
            </a:r>
            <a:br/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Remove Optimization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Accuracy: 0.89 | F1-Score: 0.82 (Minimal difference)</a:t>
            </a:r>
            <a:br/>
          </a:p>
          <a:p>
            <a:pPr>
              <a:defRPr sz="1150" b="1">
                <a:solidFill>
                  <a:srgbClr val="64748B"/>
                </a:solidFill>
              </a:defRPr>
            </a:pPr>
            <a:r>
              <a:t>• Remove Labeled Features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Accuracy: 0.59 | F1-Score: 0.60 (-22% F1 Decrease)</a:t>
            </a:r>
            <a:br/>
          </a:p>
          <a:p>
            <a:pPr>
              <a:defRPr sz="1150" b="1">
                <a:solidFill>
                  <a:srgbClr val="F43F5E"/>
                </a:solidFill>
              </a:defRPr>
            </a:pPr>
            <a:r>
              <a:t>• Remove Natural Language (NL)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Accuracy: 0.62 | F1-Score: 0.45 (-37% F1 Drop 📉)</a:t>
            </a:r>
            <a:br/>
          </a:p>
          <a:p>
            <a:pPr>
              <a:defRPr sz="1150" b="1">
                <a:solidFill>
                  <a:srgbClr val="F43F5E"/>
                </a:solidFill>
              </a:defRPr>
            </a:pPr>
            <a:r>
              <a:t>• Remove Tier of Thought (ToT)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Accuracy: 0.24 | F1-Score: 0.16 (-66% F1 Collapse 📉📉)</a:t>
            </a:r>
            <a:br/>
          </a:p>
          <a:p>
            <a:pPr>
              <a:defRPr sz="1150" b="1">
                <a:solidFill>
                  <a:srgbClr val="F43F5E"/>
                </a:solidFill>
              </a:defRPr>
            </a:pPr>
            <a:r>
              <a:t>• Raw Base LLM (No Fine-tuning)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  Accuracy: 0.12 | F1-Score: 0.14 (Complete Failure)</a:t>
            </a:r>
            <a:br/>
          </a:p>
        </p:txBody>
      </p:sp>
    </p:spTree>
  </p:cSld>
  <p:clrMapOvr>
    <a:masterClrMapping/>
  </p:clrMapOvr>
  <p:transition spd="med">
    <p:push dir="r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"/>
            <a:ext cx="2560320" cy="256032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14. MID-SEM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t>Practical Work Executed on Local Machine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07040" y="320040"/>
            <a:ext cx="914400" cy="384048"/>
          </a:xfrm>
          <a:prstGeom prst="roundRect">
            <a:avLst/>
          </a:prstGeom>
          <a:solidFill>
            <a:srgbClr val="172036"/>
          </a:solidFill>
          <a:ln w="12700">
            <a:solidFill>
              <a:srgbClr val="2D3C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EA5E9"/>
                </a:solidFill>
              </a:defRPr>
            </a:pPr>
            <a:r>
              <a:t>15 / 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73952"/>
            <a:ext cx="10728655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SmartInv: Multimodal Smart Contract Invariant Inference | Rishi (ID: 2024ucp1566) | Mid-Sem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109728" cy="23317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87552" y="1490472"/>
            <a:ext cx="868680" cy="237744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7830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Environment &amp; Setup</a:t>
            </a:r>
          </a:p>
          <a:p>
            <a:pPr>
              <a:defRPr sz="1000" b="1">
                <a:solidFill>
                  <a:srgbClr val="4F46E5"/>
                </a:solidFill>
              </a:defRPr>
            </a:pPr>
            <a:r>
              <a:t>Dependency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031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✔ Cloned full research repository and configured local Python environment.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Integrated PyTorch 2.8, HuggingFace Transformers, PEFT, and OpenAI SDK.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Created clean workspace structure with Git version control.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325880"/>
            <a:ext cx="109728" cy="23317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73952" y="1490472"/>
            <a:ext cx="1271016" cy="237744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DEBUGGING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7830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Bug Fixing &amp; Compatibility</a:t>
            </a:r>
          </a:p>
          <a:p>
            <a:pPr>
              <a:defRPr sz="1000" b="1">
                <a:solidFill>
                  <a:srgbClr val="0EA5E9"/>
                </a:solidFill>
              </a:defRPr>
            </a:pPr>
            <a:r>
              <a:t>Windows Porting &amp; Fixes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031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✔ Fixed Windows file encoding bug (UnicodeEncodeError for pi symbols) in dataset generator.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Replaced hardcoded Linux author paths (/home/sally...) with dynamic relative paths.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Patched OpenAI client initialization crash to support offline and help modes.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109728" cy="23317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7552" y="4005072"/>
            <a:ext cx="1271016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42976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Dataset Processing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ToT Training Data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6177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✔ Executed generator.py — generated all 3,000+ ToT structured prompt-completion pairs.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Validated smartinv.py CLI argument parser (Exit Code 0).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Tested verification routines on sample benchmark contracts.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840480"/>
            <a:ext cx="5242255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3840480"/>
            <a:ext cx="109728" cy="23317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73952" y="4005072"/>
            <a:ext cx="1572768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DELIVERABLES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297680"/>
            <a:ext cx="47850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Comprehensive Guides &amp; Git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Defense Prep &amp; Repository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61772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defRPr sz="1100">
                <a:solidFill>
                  <a:srgbClr val="334155"/>
                </a:solidFill>
              </a:defRPr>
            </a:pPr>
            <a:r>
              <a:t>✔ Authored 5 extensive study guide documents in dedicated study_guide/ folder.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Set up dual remotes (origin -&gt; User GitHub, upstream -&gt; Columbia).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✔ Pushed all code fixes, datasets, and presentation decks to GitHub.</a:t>
            </a:r>
          </a:p>
        </p:txBody>
      </p:sp>
    </p:spTree>
  </p:cSld>
  <p:clrMapOvr>
    <a:masterClrMapping/>
  </p:clrMapOvr>
  <p:transition spd="med">
    <p:push dir="r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822960"/>
            <a:ext cx="9997135" cy="5212080"/>
          </a:xfrm>
          <a:prstGeom prst="roundRect">
            <a:avLst/>
          </a:prstGeom>
          <a:solidFill>
            <a:srgbClr val="172036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9265615" cy="4663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🎯 PROJECT SUMMARY &amp; KEY TAKEAWAYS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t>SmartInv: AI Intuition Meets Mathematical Proof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br/>
            <a:r>
              <a:t>✔ First automated security tool to solve 'Machine Un-auditable' functional bugs.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br/>
            <a:r>
              <a:t>✔ Tier of Thought (ToT) is the core breakthrough — boosting F1-score by 66%.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br/>
            <a:r>
              <a:t>✔ Discovered 119 live zero-day vulnerabilities in production Ethereum contracts.</a:t>
            </a:r>
          </a:p>
          <a:p>
            <a:pPr algn="ctr">
              <a:defRPr sz="1300">
                <a:solidFill>
                  <a:srgbClr val="E2E8F0"/>
                </a:solidFill>
              </a:defRPr>
            </a:pPr>
            <a:br/>
            <a:r>
              <a:t>✔ Fully implemented, debugged, and verified on local machine with full study repository.</a:t>
            </a:r>
          </a:p>
          <a:p>
            <a:pPr algn="ctr">
              <a:defRPr sz="1600" b="1">
                <a:solidFill>
                  <a:srgbClr val="10B981"/>
                </a:solidFill>
              </a:defRPr>
            </a:pPr>
            <a:br/>
            <a:br/>
            <a:r>
              <a:t>Thank You! | Ready for Teacher Q&amp;A and Viva Defense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